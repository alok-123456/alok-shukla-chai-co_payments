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6" d="100"/>
          <a:sy n="66" d="100"/>
        </p:scale>
        <p:origin x="644"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8493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case in your own words. Chai &amp; Co is a Bengaluru tea brand that wants to sell directly through its website and app. The aim is to choose payment options that customers already know, keep costs visible and avoid making the first launch more complicated than it needs to be.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recommendation is to use a payment aggregator rather than building a complex payment setup in-house. At this sales level, reliability, payment coverage, refunds and support are more valuable than trying to save a small amount on every transaction before we know the actual mix.</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order count is calculated as ₹15,00,000 divided by ₹600, which gives 2,500 orders a month. That works out to about 83 orders a day. Since seven in ten orders are on mobile, I would test the payment journey carefully on Android and iPhone, including what happens when a customer leaves the app to approve a UPI payment and then returns.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would launch with UPI and cards clearly visible, while keeping netbanking and a small number of popular wallets available. I would not add every possible payment option on day one. Too many choices can make checkout harder to scan, and every additional option adds testing and support work.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would avoid a fully custom API checkout for the first release. The team can revisit it after it has enough data to see where customers abandon checkout. In the meantime, the provider should offer a branded hosted page, mobile-friendly layout, reliable app handoff, clear payment status and a way to retry a failed payment. 'White-label' describes the look and branding; confirm what the provider actually includes.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the first launch, an authorised payment aggregator is the practical choice. Before signing, confirm the provider's legal entity and relevant RBI authorisation, how it handles settlement, what happens when a payment is disputed, and who supports outages. Direct acquiring may make sense later, but the saving should be compared with engineering, operations and support costs.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calculation. UPI: ₹8,25,000 at 0.40% equals ₹3,300. Cards: ₹4,50,000 at 1.80% equals ₹8,100. Netbanking: ₹1,50,000 at 1.50% equals ₹2,250. Wallets: ₹75,000 at 1.80% equals ₹1,350. Total is ₹15,000, or 1% of GMV. If 18% GST applies to those service fees, it adds ₹2,700. This is a model for comparison, not a claim about a particular provider's prices. Ask for separate pricing by method and card type, plus setup fees, refunds, chargebacks and settlement conditions.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comparison helps explain why the provider quote matters. A blended rate of 0.75% would cost ₹11,250, 1% would cost ₹15,000 and 1.25% would cost ₹18,750 on ₹15 lakh of monthly sales. The difference between 0.75% and 1.25% is ₹7,500 a month, before any tax or other fees. However, do not pick a provider on price alone; uptime, payment success, settlement reliability and support also affect revenue.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simple flow is customer, checkout, bank or payment network, provider, then merchant settlement. The technical point I would emphasise is that a browser redirect or success screen is not enough to mark an order paid. The server should verify the provider's signed webhook, handle duplicate notifications safely and store the provider transaction ID alongside Chai &amp; Co's order ID. Payment success and bank settlement happen at different times.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would assign Finance to own daily reconciliation, with Engineering helping automate the report import. The team should compare captured payments, refunds, reversals, fees and applicable taxes against the actual payout. Do not assume every provider settles on the same timeline; confirm the contracted cycle and cut-off. Keep a list of unmatched items and review old items until they are resolved. Manual changes should have an audit trail and, ideally, a second-person approval.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layer should be the provider's built-in fraud tools, plus sensible rate limits and secure admin access. Require stronger authentication where appropriate, watch repeated failed attempts and unusual refund behaviour, and do not fulfil orders until the backend confirms payment. Rules should be reviewed because overly aggressive blocking can reject genuine customers. Never store CVV. Keep an incident process so the team knows who to contact when suspicious activity appears.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provider will usually carry out merchant KYB checks, so the company should prepare consistent business and bank information, ownership details and a working website with customer policies. For cards, hosted checkout and tokenisation reduce exposure, but they do not automatically remove every PCI DSS obligation. For personal data, provide a clear privacy notice, collect only what is needed, control vendor access and set retention rules. Confirm the current DPDP Act/rules and applicable commencement dates with a qualified adviser before launch. This slide is a checklist, not legal advice.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UAE opportunity should influence provider selection, but it does not need to complicate the India launch. Ask shortlisted providers whether they support the intended cross-border e-commerce model, which currencies the customer can see, what currency Chai &amp; Co receives, how FX is calculated and who bears chargeback risk. Before launch, confirm the relevant permissions and export, tax, privacy and fulfilment requirements with professional advisers.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launch should be judged by more than whether payments work. Measure payment success and pending rates by method, checkout conversion on mobile, real cost per successful order, settlement mismatches, fraud and customer complaints. For the first month, establish a baseline; in the second, fix the most common failure reasons; in the third, review the provider and pricing using actual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I would ask for approval to shortlist two or three authorised providers and compare their written quotes, checkout experience, settlement terms, reporting and support. Then I would test the whole payment journey on mobile before going live. The numbers here are assumptions for a capstone recommendation; they should be replaced with actual quotes and current official requirements before a business makes a decision.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2F37"/>
        </a:solidFill>
        <a:effectLst/>
      </p:bgPr>
    </p:bg>
    <p:spTree>
      <p:nvGrpSpPr>
        <p:cNvPr id="1" name=""/>
        <p:cNvGrpSpPr/>
        <p:nvPr/>
      </p:nvGrpSpPr>
      <p:grpSpPr>
        <a:xfrm>
          <a:off x="0" y="0"/>
          <a:ext cx="0" cy="0"/>
          <a:chOff x="0" y="0"/>
          <a:chExt cx="0" cy="0"/>
        </a:xfrm>
      </p:grpSpPr>
      <p:sp>
        <p:nvSpPr>
          <p:cNvPr id="2" name="Rectangle 1"/>
          <p:cNvSpPr/>
          <p:nvPr/>
        </p:nvSpPr>
        <p:spPr>
          <a:xfrm>
            <a:off x="7818120" y="0"/>
            <a:ext cx="4370832" cy="6858000"/>
          </a:xfrm>
          <a:prstGeom prst="rect">
            <a:avLst/>
          </a:prstGeom>
          <a:solidFill>
            <a:srgbClr val="374046"/>
          </a:solidFill>
          <a:ln>
            <a:solidFill>
              <a:srgbClr val="3740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03920" y="960120"/>
            <a:ext cx="2057400" cy="2057400"/>
          </a:xfrm>
          <a:prstGeom prst="ellipse">
            <a:avLst/>
          </a:prstGeom>
          <a:noFill/>
          <a:ln w="31750">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89720" y="1664208"/>
            <a:ext cx="1508760" cy="1508760"/>
          </a:xfrm>
          <a:prstGeom prst="ellipse">
            <a:avLst/>
          </a:prstGeom>
          <a:noFill/>
          <a:ln w="31750">
            <a:solidFill>
              <a:srgbClr val="AD84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0" y="2084831"/>
            <a:ext cx="685800" cy="685800"/>
          </a:xfrm>
          <a:prstGeom prst="ellipse">
            <a:avLst/>
          </a:prstGeom>
          <a:noFill/>
          <a:ln w="31750">
            <a:solidFill>
              <a:srgbClr val="F2E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85800"/>
            <a:ext cx="5486400" cy="274320"/>
          </a:xfrm>
          <a:prstGeom prst="rect">
            <a:avLst/>
          </a:prstGeom>
          <a:noFill/>
        </p:spPr>
        <p:txBody>
          <a:bodyPr wrap="square" lIns="45720" rIns="45720" anchor="t">
            <a:spAutoFit/>
          </a:bodyPr>
          <a:lstStyle/>
          <a:p>
            <a:pPr>
              <a:defRPr sz="1100" b="1">
                <a:solidFill>
                  <a:srgbClr val="E0B182"/>
                </a:solidFill>
                <a:latin typeface="Aptos"/>
              </a:defRPr>
            </a:pPr>
            <a:r>
              <a:t>CAPSTONE PROJECT</a:t>
            </a:r>
          </a:p>
        </p:txBody>
      </p:sp>
      <p:sp>
        <p:nvSpPr>
          <p:cNvPr id="7" name="TextBox 6"/>
          <p:cNvSpPr txBox="1"/>
          <p:nvPr/>
        </p:nvSpPr>
        <p:spPr>
          <a:xfrm>
            <a:off x="731520" y="1417320"/>
            <a:ext cx="6675120" cy="1234440"/>
          </a:xfrm>
          <a:prstGeom prst="rect">
            <a:avLst/>
          </a:prstGeom>
          <a:noFill/>
        </p:spPr>
        <p:txBody>
          <a:bodyPr wrap="square" lIns="45720" rIns="45720" anchor="t">
            <a:spAutoFit/>
          </a:bodyPr>
          <a:lstStyle/>
          <a:p>
            <a:pPr>
              <a:defRPr sz="3600" b="1">
                <a:solidFill>
                  <a:srgbClr val="FFFFFF"/>
                </a:solidFill>
                <a:latin typeface="Aptos"/>
              </a:defRPr>
            </a:pPr>
            <a:r>
              <a:t>Taking Chai &amp; Co</a:t>
            </a:r>
            <a:br/>
            <a:r>
              <a:t>online</a:t>
            </a:r>
          </a:p>
        </p:txBody>
      </p:sp>
      <p:sp>
        <p:nvSpPr>
          <p:cNvPr id="8" name="TextBox 7"/>
          <p:cNvSpPr txBox="1"/>
          <p:nvPr/>
        </p:nvSpPr>
        <p:spPr>
          <a:xfrm>
            <a:off x="749808" y="3063240"/>
            <a:ext cx="6309360" cy="822960"/>
          </a:xfrm>
          <a:prstGeom prst="rect">
            <a:avLst/>
          </a:prstGeom>
          <a:noFill/>
        </p:spPr>
        <p:txBody>
          <a:bodyPr wrap="square" lIns="45720" rIns="45720" anchor="t">
            <a:spAutoFit/>
          </a:bodyPr>
          <a:lstStyle/>
          <a:p>
            <a:pPr>
              <a:defRPr sz="1900" b="0">
                <a:solidFill>
                  <a:srgbClr val="F2EBDE"/>
                </a:solidFill>
                <a:latin typeface="Aptos"/>
              </a:defRPr>
            </a:pPr>
            <a:r>
              <a:t>A practical plan for accepting payments on a new website and app</a:t>
            </a:r>
          </a:p>
        </p:txBody>
      </p:sp>
      <p:sp>
        <p:nvSpPr>
          <p:cNvPr id="9" name="TextBox 8"/>
          <p:cNvSpPr txBox="1"/>
          <p:nvPr/>
        </p:nvSpPr>
        <p:spPr>
          <a:xfrm>
            <a:off x="749808" y="4389120"/>
            <a:ext cx="6309360" cy="502920"/>
          </a:xfrm>
          <a:prstGeom prst="rect">
            <a:avLst/>
          </a:prstGeom>
          <a:noFill/>
        </p:spPr>
        <p:txBody>
          <a:bodyPr wrap="square" lIns="45720" rIns="45720" anchor="t">
            <a:spAutoFit/>
          </a:bodyPr>
          <a:lstStyle/>
          <a:p>
            <a:pPr>
              <a:defRPr sz="1400" b="0">
                <a:solidFill>
                  <a:srgbClr val="D6D7D2"/>
                </a:solidFill>
                <a:latin typeface="Aptos"/>
              </a:defRPr>
            </a:pPr>
            <a:r>
              <a:t>₹15 lakh monthly sales  |  ₹600 average order  |  70% mobile</a:t>
            </a:r>
          </a:p>
        </p:txBody>
      </p:sp>
      <p:sp>
        <p:nvSpPr>
          <p:cNvPr id="11" name="TextBox 10"/>
          <p:cNvSpPr txBox="1"/>
          <p:nvPr/>
        </p:nvSpPr>
        <p:spPr>
          <a:xfrm>
            <a:off x="8275320" y="4251960"/>
            <a:ext cx="3200400" cy="548640"/>
          </a:xfrm>
          <a:prstGeom prst="rect">
            <a:avLst/>
          </a:prstGeom>
          <a:noFill/>
        </p:spPr>
        <p:txBody>
          <a:bodyPr wrap="square" lIns="45720" rIns="45720" anchor="t">
            <a:spAutoFit/>
          </a:bodyPr>
          <a:lstStyle/>
          <a:p>
            <a:pPr algn="ctr">
              <a:defRPr sz="1700" b="1">
                <a:solidFill>
                  <a:srgbClr val="F2EBDE"/>
                </a:solidFill>
                <a:latin typeface="Aptos"/>
              </a:defRPr>
            </a:pPr>
            <a:r>
              <a:t>GOOD TEA.</a:t>
            </a:r>
            <a:br/>
            <a:r>
              <a:t>EASY CHECKOUT.</a:t>
            </a:r>
          </a:p>
        </p:txBody>
      </p:sp>
      <p:sp>
        <p:nvSpPr>
          <p:cNvPr id="12" name="TextBox 11"/>
          <p:cNvSpPr txBox="1"/>
          <p:nvPr/>
        </p:nvSpPr>
        <p:spPr>
          <a:xfrm>
            <a:off x="8339327" y="5166360"/>
            <a:ext cx="3063240" cy="502920"/>
          </a:xfrm>
          <a:prstGeom prst="rect">
            <a:avLst/>
          </a:prstGeom>
          <a:noFill/>
        </p:spPr>
        <p:txBody>
          <a:bodyPr wrap="square" lIns="45720" rIns="45720" anchor="t">
            <a:spAutoFit/>
          </a:bodyPr>
          <a:lstStyle/>
          <a:p>
            <a:pPr algn="ctr">
              <a:defRPr sz="1200" b="0">
                <a:solidFill>
                  <a:srgbClr val="D2D3CD"/>
                </a:solidFill>
                <a:latin typeface="Aptos"/>
              </a:defRPr>
            </a:pPr>
            <a:r>
              <a:t>Keep payment simple for customers—and simple to manage.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The decision I would make</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02</a:t>
            </a:r>
          </a:p>
        </p:txBody>
      </p:sp>
      <p:sp>
        <p:nvSpPr>
          <p:cNvPr id="7" name="Rounded Rectangle 6"/>
          <p:cNvSpPr/>
          <p:nvPr/>
        </p:nvSpPr>
        <p:spPr>
          <a:xfrm>
            <a:off x="685800" y="1554480"/>
            <a:ext cx="5257800" cy="1417320"/>
          </a:xfrm>
          <a:prstGeom prst="roundRect">
            <a:avLst>
              <a:gd name="adj" fmla="val 8000"/>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764792"/>
            <a:ext cx="4663440" cy="274320"/>
          </a:xfrm>
          <a:prstGeom prst="rect">
            <a:avLst/>
          </a:prstGeom>
          <a:noFill/>
        </p:spPr>
        <p:txBody>
          <a:bodyPr wrap="square" lIns="45720" rIns="45720" anchor="t">
            <a:spAutoFit/>
          </a:bodyPr>
          <a:lstStyle/>
          <a:p>
            <a:pPr>
              <a:defRPr sz="1100" b="1">
                <a:solidFill>
                  <a:srgbClr val="9D5B33"/>
                </a:solidFill>
                <a:latin typeface="Aptos"/>
              </a:defRPr>
            </a:pPr>
            <a:r>
              <a:t>PAYMENT OPTIONS</a:t>
            </a:r>
          </a:p>
        </p:txBody>
      </p:sp>
      <p:sp>
        <p:nvSpPr>
          <p:cNvPr id="9" name="TextBox 8"/>
          <p:cNvSpPr txBox="1"/>
          <p:nvPr/>
        </p:nvSpPr>
        <p:spPr>
          <a:xfrm>
            <a:off x="914400" y="2148840"/>
            <a:ext cx="4617720" cy="594360"/>
          </a:xfrm>
          <a:prstGeom prst="rect">
            <a:avLst/>
          </a:prstGeom>
          <a:noFill/>
        </p:spPr>
        <p:txBody>
          <a:bodyPr wrap="square" lIns="45720" rIns="45720" anchor="t">
            <a:spAutoFit/>
          </a:bodyPr>
          <a:lstStyle/>
          <a:p>
            <a:pPr>
              <a:defRPr sz="1700" b="1">
                <a:solidFill>
                  <a:srgbClr val="262F37"/>
                </a:solidFill>
                <a:latin typeface="Aptos"/>
              </a:defRPr>
            </a:pPr>
            <a:r>
              <a:t>Start with UPI and cards, then add netbanking and popular wallets.</a:t>
            </a:r>
          </a:p>
        </p:txBody>
      </p:sp>
      <p:sp>
        <p:nvSpPr>
          <p:cNvPr id="10" name="Rounded Rectangle 9"/>
          <p:cNvSpPr/>
          <p:nvPr/>
        </p:nvSpPr>
        <p:spPr>
          <a:xfrm>
            <a:off x="6217920" y="1554480"/>
            <a:ext cx="5257800" cy="1417320"/>
          </a:xfrm>
          <a:prstGeom prst="roundRect">
            <a:avLst>
              <a:gd name="adj" fmla="val 8000"/>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764792"/>
            <a:ext cx="4663440" cy="274320"/>
          </a:xfrm>
          <a:prstGeom prst="rect">
            <a:avLst/>
          </a:prstGeom>
          <a:noFill/>
        </p:spPr>
        <p:txBody>
          <a:bodyPr wrap="square" lIns="45720" rIns="45720" anchor="t">
            <a:spAutoFit/>
          </a:bodyPr>
          <a:lstStyle/>
          <a:p>
            <a:pPr>
              <a:defRPr sz="1100" b="1">
                <a:solidFill>
                  <a:srgbClr val="4A6F87"/>
                </a:solidFill>
                <a:latin typeface="Aptos"/>
              </a:defRPr>
            </a:pPr>
            <a:r>
              <a:t>CHECKOUT</a:t>
            </a:r>
          </a:p>
        </p:txBody>
      </p:sp>
      <p:sp>
        <p:nvSpPr>
          <p:cNvPr id="12" name="TextBox 11"/>
          <p:cNvSpPr txBox="1"/>
          <p:nvPr/>
        </p:nvSpPr>
        <p:spPr>
          <a:xfrm>
            <a:off x="6446520" y="2148840"/>
            <a:ext cx="4617720" cy="594360"/>
          </a:xfrm>
          <a:prstGeom prst="rect">
            <a:avLst/>
          </a:prstGeom>
          <a:noFill/>
        </p:spPr>
        <p:txBody>
          <a:bodyPr wrap="square" lIns="45720" rIns="45720" anchor="t">
            <a:spAutoFit/>
          </a:bodyPr>
          <a:lstStyle/>
          <a:p>
            <a:pPr>
              <a:defRPr sz="1700" b="1">
                <a:solidFill>
                  <a:srgbClr val="262F37"/>
                </a:solidFill>
                <a:latin typeface="Aptos"/>
              </a:defRPr>
            </a:pPr>
            <a:r>
              <a:t>Use a branded hosted checkout that works well on phones.</a:t>
            </a:r>
          </a:p>
        </p:txBody>
      </p:sp>
      <p:sp>
        <p:nvSpPr>
          <p:cNvPr id="13" name="Rounded Rectangle 12"/>
          <p:cNvSpPr/>
          <p:nvPr/>
        </p:nvSpPr>
        <p:spPr>
          <a:xfrm>
            <a:off x="685800" y="3291840"/>
            <a:ext cx="5257800" cy="1417320"/>
          </a:xfrm>
          <a:prstGeom prst="roundRect">
            <a:avLst>
              <a:gd name="adj" fmla="val 8000"/>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502152"/>
            <a:ext cx="4663440" cy="274320"/>
          </a:xfrm>
          <a:prstGeom prst="rect">
            <a:avLst/>
          </a:prstGeom>
          <a:noFill/>
        </p:spPr>
        <p:txBody>
          <a:bodyPr wrap="square" lIns="45720" rIns="45720" anchor="t">
            <a:spAutoFit/>
          </a:bodyPr>
          <a:lstStyle/>
          <a:p>
            <a:pPr>
              <a:defRPr sz="1100" b="1">
                <a:solidFill>
                  <a:srgbClr val="487058"/>
                </a:solidFill>
                <a:latin typeface="Aptos"/>
              </a:defRPr>
            </a:pPr>
            <a:r>
              <a:t>PAYMENT PARTNER</a:t>
            </a:r>
          </a:p>
        </p:txBody>
      </p:sp>
      <p:sp>
        <p:nvSpPr>
          <p:cNvPr id="15" name="TextBox 14"/>
          <p:cNvSpPr txBox="1"/>
          <p:nvPr/>
        </p:nvSpPr>
        <p:spPr>
          <a:xfrm>
            <a:off x="914400" y="3886200"/>
            <a:ext cx="4617720" cy="594360"/>
          </a:xfrm>
          <a:prstGeom prst="rect">
            <a:avLst/>
          </a:prstGeom>
          <a:noFill/>
        </p:spPr>
        <p:txBody>
          <a:bodyPr wrap="square" lIns="45720" rIns="45720" anchor="t">
            <a:spAutoFit/>
          </a:bodyPr>
          <a:lstStyle/>
          <a:p>
            <a:pPr>
              <a:defRPr sz="1700" b="1">
                <a:solidFill>
                  <a:srgbClr val="262F37"/>
                </a:solidFill>
                <a:latin typeface="Aptos"/>
              </a:defRPr>
            </a:pPr>
            <a:r>
              <a:t>Choose an authorised payment aggregator for the first launch.</a:t>
            </a:r>
          </a:p>
        </p:txBody>
      </p:sp>
      <p:sp>
        <p:nvSpPr>
          <p:cNvPr id="16" name="Rounded Rectangle 15"/>
          <p:cNvSpPr/>
          <p:nvPr/>
        </p:nvSpPr>
        <p:spPr>
          <a:xfrm>
            <a:off x="6217920" y="3291840"/>
            <a:ext cx="5257800" cy="1417320"/>
          </a:xfrm>
          <a:prstGeom prst="roundRect">
            <a:avLst>
              <a:gd name="adj" fmla="val 8000"/>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502152"/>
            <a:ext cx="4663440" cy="274320"/>
          </a:xfrm>
          <a:prstGeom prst="rect">
            <a:avLst/>
          </a:prstGeom>
          <a:noFill/>
        </p:spPr>
        <p:txBody>
          <a:bodyPr wrap="square" lIns="45720" rIns="45720" anchor="t">
            <a:spAutoFit/>
          </a:bodyPr>
          <a:lstStyle/>
          <a:p>
            <a:pPr>
              <a:defRPr sz="1100" b="1">
                <a:solidFill>
                  <a:srgbClr val="AD843B"/>
                </a:solidFill>
                <a:latin typeface="Aptos"/>
              </a:defRPr>
            </a:pPr>
            <a:r>
              <a:t>CONTROL</a:t>
            </a:r>
          </a:p>
        </p:txBody>
      </p:sp>
      <p:sp>
        <p:nvSpPr>
          <p:cNvPr id="18" name="TextBox 17"/>
          <p:cNvSpPr txBox="1"/>
          <p:nvPr/>
        </p:nvSpPr>
        <p:spPr>
          <a:xfrm>
            <a:off x="6446520" y="3886200"/>
            <a:ext cx="4617720" cy="594360"/>
          </a:xfrm>
          <a:prstGeom prst="rect">
            <a:avLst/>
          </a:prstGeom>
          <a:noFill/>
        </p:spPr>
        <p:txBody>
          <a:bodyPr wrap="square" lIns="45720" rIns="45720" anchor="t">
            <a:spAutoFit/>
          </a:bodyPr>
          <a:lstStyle/>
          <a:p>
            <a:pPr>
              <a:defRPr sz="1700" b="1">
                <a:solidFill>
                  <a:srgbClr val="262F37"/>
                </a:solidFill>
                <a:latin typeface="Aptos"/>
              </a:defRPr>
            </a:pPr>
            <a:r>
              <a:t>Check transactions against bank payouts every working day.</a:t>
            </a:r>
          </a:p>
        </p:txBody>
      </p:sp>
      <p:sp>
        <p:nvSpPr>
          <p:cNvPr id="19" name="TextBox 18"/>
          <p:cNvSpPr txBox="1"/>
          <p:nvPr/>
        </p:nvSpPr>
        <p:spPr>
          <a:xfrm>
            <a:off x="777240" y="5257800"/>
            <a:ext cx="10515600" cy="548640"/>
          </a:xfrm>
          <a:prstGeom prst="rect">
            <a:avLst/>
          </a:prstGeom>
          <a:noFill/>
        </p:spPr>
        <p:txBody>
          <a:bodyPr wrap="square" lIns="45720" rIns="45720" anchor="t">
            <a:spAutoFit/>
          </a:bodyPr>
          <a:lstStyle/>
          <a:p>
            <a:pPr>
              <a:defRPr sz="1600" b="1">
                <a:solidFill>
                  <a:srgbClr val="262F37"/>
                </a:solidFill>
                <a:latin typeface="Aptos"/>
              </a:defRPr>
            </a:pPr>
            <a:r>
              <a:t>My reasoning: launch reliably first. Optimise fees and build a more custom checkout once real customer data is available.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THE STARTING POINT</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What the numbers tell us</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03</a:t>
            </a:r>
          </a:p>
        </p:txBody>
      </p:sp>
      <p:sp>
        <p:nvSpPr>
          <p:cNvPr id="7" name="Rounded Rectangle 6"/>
          <p:cNvSpPr/>
          <p:nvPr/>
        </p:nvSpPr>
        <p:spPr>
          <a:xfrm>
            <a:off x="594360" y="1600200"/>
            <a:ext cx="2057400" cy="1234440"/>
          </a:xfrm>
          <a:prstGeom prst="roundRect">
            <a:avLst>
              <a:gd name="adj" fmla="val 8000"/>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828800"/>
            <a:ext cx="1920240" cy="384048"/>
          </a:xfrm>
          <a:prstGeom prst="rect">
            <a:avLst/>
          </a:prstGeom>
          <a:noFill/>
        </p:spPr>
        <p:txBody>
          <a:bodyPr wrap="square" lIns="45720" rIns="45720" anchor="t">
            <a:spAutoFit/>
          </a:bodyPr>
          <a:lstStyle/>
          <a:p>
            <a:pPr algn="ctr">
              <a:defRPr sz="2200" b="1">
                <a:solidFill>
                  <a:srgbClr val="9D5B33"/>
                </a:solidFill>
                <a:latin typeface="Aptos"/>
              </a:defRPr>
            </a:pPr>
            <a:r>
              <a:t>₹15 lakh</a:t>
            </a:r>
          </a:p>
        </p:txBody>
      </p:sp>
      <p:sp>
        <p:nvSpPr>
          <p:cNvPr id="9" name="TextBox 8"/>
          <p:cNvSpPr txBox="1"/>
          <p:nvPr/>
        </p:nvSpPr>
        <p:spPr>
          <a:xfrm>
            <a:off x="667512" y="2304288"/>
            <a:ext cx="1920240" cy="256032"/>
          </a:xfrm>
          <a:prstGeom prst="rect">
            <a:avLst/>
          </a:prstGeom>
          <a:noFill/>
        </p:spPr>
        <p:txBody>
          <a:bodyPr wrap="square" lIns="45720" rIns="45720" anchor="t">
            <a:spAutoFit/>
          </a:bodyPr>
          <a:lstStyle/>
          <a:p>
            <a:pPr algn="ctr">
              <a:defRPr sz="1000" b="0">
                <a:solidFill>
                  <a:srgbClr val="676F74"/>
                </a:solidFill>
                <a:latin typeface="Aptos"/>
              </a:defRPr>
            </a:pPr>
            <a:r>
              <a:t>monthly online sales</a:t>
            </a:r>
          </a:p>
        </p:txBody>
      </p:sp>
      <p:sp>
        <p:nvSpPr>
          <p:cNvPr id="10" name="Rounded Rectangle 9"/>
          <p:cNvSpPr/>
          <p:nvPr/>
        </p:nvSpPr>
        <p:spPr>
          <a:xfrm>
            <a:off x="2907791" y="1600200"/>
            <a:ext cx="2057400" cy="1234440"/>
          </a:xfrm>
          <a:prstGeom prst="roundRect">
            <a:avLst>
              <a:gd name="adj" fmla="val 8000"/>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80944" y="1828800"/>
            <a:ext cx="1920240" cy="384048"/>
          </a:xfrm>
          <a:prstGeom prst="rect">
            <a:avLst/>
          </a:prstGeom>
          <a:noFill/>
        </p:spPr>
        <p:txBody>
          <a:bodyPr wrap="square" lIns="45720" rIns="45720" anchor="t">
            <a:spAutoFit/>
          </a:bodyPr>
          <a:lstStyle/>
          <a:p>
            <a:pPr algn="ctr">
              <a:defRPr sz="2200" b="1">
                <a:solidFill>
                  <a:srgbClr val="262F37"/>
                </a:solidFill>
                <a:latin typeface="Aptos"/>
              </a:defRPr>
            </a:pPr>
            <a:r>
              <a:t>₹600</a:t>
            </a:r>
          </a:p>
        </p:txBody>
      </p:sp>
      <p:sp>
        <p:nvSpPr>
          <p:cNvPr id="12" name="TextBox 11"/>
          <p:cNvSpPr txBox="1"/>
          <p:nvPr/>
        </p:nvSpPr>
        <p:spPr>
          <a:xfrm>
            <a:off x="2980944" y="2304288"/>
            <a:ext cx="1920240" cy="256032"/>
          </a:xfrm>
          <a:prstGeom prst="rect">
            <a:avLst/>
          </a:prstGeom>
          <a:noFill/>
        </p:spPr>
        <p:txBody>
          <a:bodyPr wrap="square" lIns="45720" rIns="45720" anchor="t">
            <a:spAutoFit/>
          </a:bodyPr>
          <a:lstStyle/>
          <a:p>
            <a:pPr algn="ctr">
              <a:defRPr sz="1000" b="0">
                <a:solidFill>
                  <a:srgbClr val="676F74"/>
                </a:solidFill>
                <a:latin typeface="Aptos"/>
              </a:defRPr>
            </a:pPr>
            <a:r>
              <a:t>average order value</a:t>
            </a:r>
          </a:p>
        </p:txBody>
      </p:sp>
      <p:sp>
        <p:nvSpPr>
          <p:cNvPr id="13" name="Rounded Rectangle 12"/>
          <p:cNvSpPr/>
          <p:nvPr/>
        </p:nvSpPr>
        <p:spPr>
          <a:xfrm>
            <a:off x="5221224" y="1600200"/>
            <a:ext cx="2057400" cy="1234440"/>
          </a:xfrm>
          <a:prstGeom prst="roundRect">
            <a:avLst>
              <a:gd name="adj" fmla="val 8000"/>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94376" y="1828800"/>
            <a:ext cx="1920240" cy="384048"/>
          </a:xfrm>
          <a:prstGeom prst="rect">
            <a:avLst/>
          </a:prstGeom>
          <a:noFill/>
        </p:spPr>
        <p:txBody>
          <a:bodyPr wrap="square" lIns="45720" rIns="45720" anchor="t">
            <a:spAutoFit/>
          </a:bodyPr>
          <a:lstStyle/>
          <a:p>
            <a:pPr algn="ctr">
              <a:defRPr sz="2200" b="1">
                <a:solidFill>
                  <a:srgbClr val="262F37"/>
                </a:solidFill>
                <a:latin typeface="Aptos"/>
              </a:defRPr>
            </a:pPr>
            <a:r>
              <a:t>2,500</a:t>
            </a:r>
          </a:p>
        </p:txBody>
      </p:sp>
      <p:sp>
        <p:nvSpPr>
          <p:cNvPr id="15" name="TextBox 14"/>
          <p:cNvSpPr txBox="1"/>
          <p:nvPr/>
        </p:nvSpPr>
        <p:spPr>
          <a:xfrm>
            <a:off x="5294376" y="2304288"/>
            <a:ext cx="1920240" cy="256032"/>
          </a:xfrm>
          <a:prstGeom prst="rect">
            <a:avLst/>
          </a:prstGeom>
          <a:noFill/>
        </p:spPr>
        <p:txBody>
          <a:bodyPr wrap="square" lIns="45720" rIns="45720" anchor="t">
            <a:spAutoFit/>
          </a:bodyPr>
          <a:lstStyle/>
          <a:p>
            <a:pPr algn="ctr">
              <a:defRPr sz="1000" b="0">
                <a:solidFill>
                  <a:srgbClr val="676F74"/>
                </a:solidFill>
                <a:latin typeface="Aptos"/>
              </a:defRPr>
            </a:pPr>
            <a:r>
              <a:t>orders per month</a:t>
            </a:r>
          </a:p>
        </p:txBody>
      </p:sp>
      <p:sp>
        <p:nvSpPr>
          <p:cNvPr id="16" name="Rounded Rectangle 15"/>
          <p:cNvSpPr/>
          <p:nvPr/>
        </p:nvSpPr>
        <p:spPr>
          <a:xfrm>
            <a:off x="7534656" y="1600200"/>
            <a:ext cx="2057400" cy="1234440"/>
          </a:xfrm>
          <a:prstGeom prst="roundRect">
            <a:avLst>
              <a:gd name="adj" fmla="val 8000"/>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07808" y="1828800"/>
            <a:ext cx="1920240" cy="384048"/>
          </a:xfrm>
          <a:prstGeom prst="rect">
            <a:avLst/>
          </a:prstGeom>
          <a:noFill/>
        </p:spPr>
        <p:txBody>
          <a:bodyPr wrap="square" lIns="45720" rIns="45720" anchor="t">
            <a:spAutoFit/>
          </a:bodyPr>
          <a:lstStyle/>
          <a:p>
            <a:pPr algn="ctr">
              <a:defRPr sz="2200" b="1">
                <a:solidFill>
                  <a:srgbClr val="262F37"/>
                </a:solidFill>
                <a:latin typeface="Aptos"/>
              </a:defRPr>
            </a:pPr>
            <a:r>
              <a:t>~83</a:t>
            </a:r>
          </a:p>
        </p:txBody>
      </p:sp>
      <p:sp>
        <p:nvSpPr>
          <p:cNvPr id="18" name="TextBox 17"/>
          <p:cNvSpPr txBox="1"/>
          <p:nvPr/>
        </p:nvSpPr>
        <p:spPr>
          <a:xfrm>
            <a:off x="7607808" y="2304288"/>
            <a:ext cx="1920240" cy="256032"/>
          </a:xfrm>
          <a:prstGeom prst="rect">
            <a:avLst/>
          </a:prstGeom>
          <a:noFill/>
        </p:spPr>
        <p:txBody>
          <a:bodyPr wrap="square" lIns="45720" rIns="45720" anchor="t">
            <a:spAutoFit/>
          </a:bodyPr>
          <a:lstStyle/>
          <a:p>
            <a:pPr algn="ctr">
              <a:defRPr sz="1000" b="0">
                <a:solidFill>
                  <a:srgbClr val="676F74"/>
                </a:solidFill>
                <a:latin typeface="Aptos"/>
              </a:defRPr>
            </a:pPr>
            <a:r>
              <a:t>orders per day</a:t>
            </a:r>
          </a:p>
        </p:txBody>
      </p:sp>
      <p:sp>
        <p:nvSpPr>
          <p:cNvPr id="19" name="Rounded Rectangle 18"/>
          <p:cNvSpPr/>
          <p:nvPr/>
        </p:nvSpPr>
        <p:spPr>
          <a:xfrm>
            <a:off x="9848088" y="1600200"/>
            <a:ext cx="2057400" cy="1234440"/>
          </a:xfrm>
          <a:prstGeom prst="roundRect">
            <a:avLst>
              <a:gd name="adj" fmla="val 8000"/>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21240" y="1828800"/>
            <a:ext cx="1920240" cy="384048"/>
          </a:xfrm>
          <a:prstGeom prst="rect">
            <a:avLst/>
          </a:prstGeom>
          <a:noFill/>
        </p:spPr>
        <p:txBody>
          <a:bodyPr wrap="square" lIns="45720" rIns="45720" anchor="t">
            <a:spAutoFit/>
          </a:bodyPr>
          <a:lstStyle/>
          <a:p>
            <a:pPr algn="ctr">
              <a:defRPr sz="2200" b="1">
                <a:solidFill>
                  <a:srgbClr val="262F37"/>
                </a:solidFill>
                <a:latin typeface="Aptos"/>
              </a:defRPr>
            </a:pPr>
            <a:r>
              <a:t>70%</a:t>
            </a:r>
          </a:p>
        </p:txBody>
      </p:sp>
      <p:sp>
        <p:nvSpPr>
          <p:cNvPr id="21" name="TextBox 20"/>
          <p:cNvSpPr txBox="1"/>
          <p:nvPr/>
        </p:nvSpPr>
        <p:spPr>
          <a:xfrm>
            <a:off x="9921240" y="2304288"/>
            <a:ext cx="1920240" cy="256032"/>
          </a:xfrm>
          <a:prstGeom prst="rect">
            <a:avLst/>
          </a:prstGeom>
          <a:noFill/>
        </p:spPr>
        <p:txBody>
          <a:bodyPr wrap="square" lIns="45720" rIns="45720" anchor="t">
            <a:spAutoFit/>
          </a:bodyPr>
          <a:lstStyle/>
          <a:p>
            <a:pPr algn="ctr">
              <a:defRPr sz="1000" b="0">
                <a:solidFill>
                  <a:srgbClr val="676F74"/>
                </a:solidFill>
                <a:latin typeface="Aptos"/>
              </a:defRPr>
            </a:pPr>
            <a:r>
              <a:t>orders on mobile</a:t>
            </a:r>
          </a:p>
        </p:txBody>
      </p:sp>
      <p:sp>
        <p:nvSpPr>
          <p:cNvPr id="22" name="TextBox 21"/>
          <p:cNvSpPr txBox="1"/>
          <p:nvPr/>
        </p:nvSpPr>
        <p:spPr>
          <a:xfrm>
            <a:off x="777240" y="3337560"/>
            <a:ext cx="4846320" cy="365760"/>
          </a:xfrm>
          <a:prstGeom prst="rect">
            <a:avLst/>
          </a:prstGeom>
          <a:noFill/>
        </p:spPr>
        <p:txBody>
          <a:bodyPr wrap="square" lIns="45720" rIns="45720" anchor="t">
            <a:spAutoFit/>
          </a:bodyPr>
          <a:lstStyle/>
          <a:p>
            <a:pPr>
              <a:defRPr sz="1700" b="1">
                <a:solidFill>
                  <a:srgbClr val="262F37"/>
                </a:solidFill>
                <a:latin typeface="Aptos"/>
              </a:defRPr>
            </a:pPr>
            <a:r>
              <a:t>Why this matters</a:t>
            </a:r>
          </a:p>
        </p:txBody>
      </p:sp>
      <p:sp>
        <p:nvSpPr>
          <p:cNvPr id="23" name="TextBox 22"/>
          <p:cNvSpPr txBox="1"/>
          <p:nvPr/>
        </p:nvSpPr>
        <p:spPr>
          <a:xfrm>
            <a:off x="822960" y="3794760"/>
            <a:ext cx="4983480" cy="1600200"/>
          </a:xfrm>
          <a:prstGeom prst="rect">
            <a:avLst/>
          </a:prstGeom>
          <a:noFill/>
        </p:spPr>
        <p:txBody>
          <a:bodyPr wrap="square" lIns="45720" tIns="18288" rIns="45720" bIns="18288">
            <a:spAutoFit/>
          </a:bodyPr>
          <a:lstStyle/>
          <a:p>
            <a:pPr>
              <a:spcAft>
                <a:spcPts val="800"/>
              </a:spcAft>
              <a:defRPr sz="1400">
                <a:solidFill>
                  <a:srgbClr val="262F37"/>
                </a:solidFill>
                <a:latin typeface="Aptos"/>
              </a:defRPr>
            </a:pPr>
            <a:r>
              <a:t>•  Around 1,750 monthly orders will come from mobile.</a:t>
            </a:r>
          </a:p>
          <a:p>
            <a:pPr>
              <a:spcAft>
                <a:spcPts val="800"/>
              </a:spcAft>
              <a:defRPr sz="1400">
                <a:solidFill>
                  <a:srgbClr val="262F37"/>
                </a:solidFill>
                <a:latin typeface="Aptos"/>
              </a:defRPr>
            </a:pPr>
            <a:r>
              <a:t>•  A slow or confusing checkout could lose sales.</a:t>
            </a:r>
          </a:p>
          <a:p>
            <a:pPr>
              <a:spcAft>
                <a:spcPts val="800"/>
              </a:spcAft>
              <a:defRPr sz="1400">
                <a:solidFill>
                  <a:srgbClr val="262F37"/>
                </a:solidFill>
                <a:latin typeface="Aptos"/>
              </a:defRPr>
            </a:pPr>
            <a:r>
              <a:t>•  Daily reconciliation is manageable with a small team.</a:t>
            </a:r>
          </a:p>
        </p:txBody>
      </p:sp>
      <p:sp>
        <p:nvSpPr>
          <p:cNvPr id="24" name="TextBox 23"/>
          <p:cNvSpPr txBox="1"/>
          <p:nvPr/>
        </p:nvSpPr>
        <p:spPr>
          <a:xfrm>
            <a:off x="6263640" y="3337560"/>
            <a:ext cx="4846320" cy="365760"/>
          </a:xfrm>
          <a:prstGeom prst="rect">
            <a:avLst/>
          </a:prstGeom>
          <a:noFill/>
        </p:spPr>
        <p:txBody>
          <a:bodyPr wrap="square" lIns="45720" rIns="45720" anchor="t">
            <a:spAutoFit/>
          </a:bodyPr>
          <a:lstStyle/>
          <a:p>
            <a:pPr>
              <a:defRPr sz="1700" b="1">
                <a:solidFill>
                  <a:srgbClr val="262F37"/>
                </a:solidFill>
                <a:latin typeface="Aptos"/>
              </a:defRPr>
            </a:pPr>
            <a:r>
              <a:t>Assumptions used in this deck</a:t>
            </a:r>
          </a:p>
        </p:txBody>
      </p:sp>
      <p:sp>
        <p:nvSpPr>
          <p:cNvPr id="25" name="TextBox 24"/>
          <p:cNvSpPr txBox="1"/>
          <p:nvPr/>
        </p:nvSpPr>
        <p:spPr>
          <a:xfrm>
            <a:off x="6309360" y="3794760"/>
            <a:ext cx="4892040" cy="1645920"/>
          </a:xfrm>
          <a:prstGeom prst="rect">
            <a:avLst/>
          </a:prstGeom>
          <a:noFill/>
        </p:spPr>
        <p:txBody>
          <a:bodyPr wrap="square" lIns="45720" tIns="18288" rIns="45720" bIns="18288">
            <a:spAutoFit/>
          </a:bodyPr>
          <a:lstStyle/>
          <a:p>
            <a:pPr>
              <a:spcAft>
                <a:spcPts val="800"/>
              </a:spcAft>
              <a:defRPr sz="1400">
                <a:solidFill>
                  <a:srgbClr val="262F37"/>
                </a:solidFill>
                <a:latin typeface="Aptos"/>
              </a:defRPr>
            </a:pPr>
            <a:r>
              <a:t>•  ₹15 lakh is gross successful order value before refunds.</a:t>
            </a:r>
          </a:p>
          <a:p>
            <a:pPr>
              <a:spcAft>
                <a:spcPts val="800"/>
              </a:spcAft>
              <a:defRPr sz="1400">
                <a:solidFill>
                  <a:srgbClr val="262F37"/>
                </a:solidFill>
                <a:latin typeface="Aptos"/>
              </a:defRPr>
            </a:pPr>
            <a:r>
              <a:t>•  The month is treated as 30 days.</a:t>
            </a:r>
          </a:p>
          <a:p>
            <a:pPr>
              <a:spcAft>
                <a:spcPts val="800"/>
              </a:spcAft>
              <a:defRPr sz="1400">
                <a:solidFill>
                  <a:srgbClr val="262F37"/>
                </a:solidFill>
                <a:latin typeface="Aptos"/>
              </a:defRPr>
            </a:pPr>
            <a:r>
              <a:t>•  Payment-method split and fee rates are estimates, not company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Which payment methods should be available?</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04</a:t>
            </a:r>
          </a:p>
        </p:txBody>
      </p:sp>
      <p:sp>
        <p:nvSpPr>
          <p:cNvPr id="7" name="Rounded Rectangle 6"/>
          <p:cNvSpPr/>
          <p:nvPr/>
        </p:nvSpPr>
        <p:spPr>
          <a:xfrm>
            <a:off x="731520" y="1417320"/>
            <a:ext cx="475488" cy="475488"/>
          </a:xfrm>
          <a:prstGeom prst="roundRect">
            <a:avLst>
              <a:gd name="adj" fmla="val 8000"/>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08760"/>
            <a:ext cx="475488" cy="228600"/>
          </a:xfrm>
          <a:prstGeom prst="rect">
            <a:avLst/>
          </a:prstGeom>
          <a:noFill/>
        </p:spPr>
        <p:txBody>
          <a:bodyPr wrap="square" lIns="45720" rIns="45720" anchor="t">
            <a:spAutoFit/>
          </a:bodyPr>
          <a:lstStyle/>
          <a:p>
            <a:pPr algn="ctr">
              <a:defRPr sz="1300" b="1">
                <a:solidFill>
                  <a:srgbClr val="FFFFFF"/>
                </a:solidFill>
                <a:latin typeface="Aptos"/>
              </a:defRPr>
            </a:pPr>
            <a:r>
              <a:t>1</a:t>
            </a:r>
          </a:p>
        </p:txBody>
      </p:sp>
      <p:sp>
        <p:nvSpPr>
          <p:cNvPr id="9" name="TextBox 8"/>
          <p:cNvSpPr txBox="1"/>
          <p:nvPr/>
        </p:nvSpPr>
        <p:spPr>
          <a:xfrm>
            <a:off x="1417320" y="1435608"/>
            <a:ext cx="2514600" cy="292608"/>
          </a:xfrm>
          <a:prstGeom prst="rect">
            <a:avLst/>
          </a:prstGeom>
          <a:noFill/>
        </p:spPr>
        <p:txBody>
          <a:bodyPr wrap="square" lIns="45720" rIns="45720" anchor="t">
            <a:spAutoFit/>
          </a:bodyPr>
          <a:lstStyle/>
          <a:p>
            <a:pPr>
              <a:defRPr sz="1500" b="1">
                <a:solidFill>
                  <a:srgbClr val="262F37"/>
                </a:solidFill>
                <a:latin typeface="Aptos"/>
              </a:defRPr>
            </a:pPr>
            <a:r>
              <a:t>UPI</a:t>
            </a:r>
          </a:p>
        </p:txBody>
      </p:sp>
      <p:sp>
        <p:nvSpPr>
          <p:cNvPr id="10" name="TextBox 9"/>
          <p:cNvSpPr txBox="1"/>
          <p:nvPr/>
        </p:nvSpPr>
        <p:spPr>
          <a:xfrm>
            <a:off x="3931920" y="1435608"/>
            <a:ext cx="1417320" cy="256032"/>
          </a:xfrm>
          <a:prstGeom prst="rect">
            <a:avLst/>
          </a:prstGeom>
          <a:noFill/>
        </p:spPr>
        <p:txBody>
          <a:bodyPr wrap="square" lIns="45720" rIns="45720" anchor="t">
            <a:spAutoFit/>
          </a:bodyPr>
          <a:lstStyle/>
          <a:p>
            <a:pPr>
              <a:defRPr sz="1100" b="1">
                <a:solidFill>
                  <a:srgbClr val="9D5B33"/>
                </a:solidFill>
                <a:latin typeface="Aptos"/>
              </a:defRPr>
            </a:pPr>
            <a:r>
              <a:t>Put it first</a:t>
            </a:r>
          </a:p>
        </p:txBody>
      </p:sp>
      <p:sp>
        <p:nvSpPr>
          <p:cNvPr id="11" name="TextBox 10"/>
          <p:cNvSpPr txBox="1"/>
          <p:nvPr/>
        </p:nvSpPr>
        <p:spPr>
          <a:xfrm>
            <a:off x="5486400" y="1408176"/>
            <a:ext cx="5715000" cy="502920"/>
          </a:xfrm>
          <a:prstGeom prst="rect">
            <a:avLst/>
          </a:prstGeom>
          <a:noFill/>
        </p:spPr>
        <p:txBody>
          <a:bodyPr wrap="square" lIns="45720" rIns="45720" anchor="t">
            <a:spAutoFit/>
          </a:bodyPr>
          <a:lstStyle/>
          <a:p>
            <a:pPr>
              <a:defRPr sz="1200" b="0">
                <a:solidFill>
                  <a:srgbClr val="374046"/>
                </a:solidFill>
                <a:latin typeface="Aptos"/>
              </a:defRPr>
            </a:pPr>
            <a:r>
              <a:t>A familiar option for everyday Indian purchases. Support app intent and clear return status.</a:t>
            </a:r>
          </a:p>
        </p:txBody>
      </p:sp>
      <p:sp>
        <p:nvSpPr>
          <p:cNvPr id="12" name="Rounded Rectangle 11"/>
          <p:cNvSpPr/>
          <p:nvPr/>
        </p:nvSpPr>
        <p:spPr>
          <a:xfrm>
            <a:off x="731520" y="2258568"/>
            <a:ext cx="475488" cy="475488"/>
          </a:xfrm>
          <a:prstGeom prst="roundRect">
            <a:avLst>
              <a:gd name="adj" fmla="val 8000"/>
            </a:avLst>
          </a:prstGeom>
          <a:solidFill>
            <a:srgbClr val="4A6F87"/>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350008"/>
            <a:ext cx="475488" cy="228600"/>
          </a:xfrm>
          <a:prstGeom prst="rect">
            <a:avLst/>
          </a:prstGeom>
          <a:noFill/>
        </p:spPr>
        <p:txBody>
          <a:bodyPr wrap="square" lIns="45720" rIns="45720" anchor="t">
            <a:spAutoFit/>
          </a:bodyPr>
          <a:lstStyle/>
          <a:p>
            <a:pPr algn="ctr">
              <a:defRPr sz="1300" b="1">
                <a:solidFill>
                  <a:srgbClr val="FFFFFF"/>
                </a:solidFill>
                <a:latin typeface="Aptos"/>
              </a:defRPr>
            </a:pPr>
            <a:r>
              <a:t>2</a:t>
            </a:r>
          </a:p>
        </p:txBody>
      </p:sp>
      <p:sp>
        <p:nvSpPr>
          <p:cNvPr id="14" name="TextBox 13"/>
          <p:cNvSpPr txBox="1"/>
          <p:nvPr/>
        </p:nvSpPr>
        <p:spPr>
          <a:xfrm>
            <a:off x="1417320" y="2276856"/>
            <a:ext cx="2514600" cy="292608"/>
          </a:xfrm>
          <a:prstGeom prst="rect">
            <a:avLst/>
          </a:prstGeom>
          <a:noFill/>
        </p:spPr>
        <p:txBody>
          <a:bodyPr wrap="square" lIns="45720" rIns="45720" anchor="t">
            <a:spAutoFit/>
          </a:bodyPr>
          <a:lstStyle/>
          <a:p>
            <a:pPr>
              <a:defRPr sz="1500" b="1">
                <a:solidFill>
                  <a:srgbClr val="262F37"/>
                </a:solidFill>
                <a:latin typeface="Aptos"/>
              </a:defRPr>
            </a:pPr>
            <a:r>
              <a:t>Credit and debit cards</a:t>
            </a:r>
          </a:p>
        </p:txBody>
      </p:sp>
      <p:sp>
        <p:nvSpPr>
          <p:cNvPr id="15" name="TextBox 14"/>
          <p:cNvSpPr txBox="1"/>
          <p:nvPr/>
        </p:nvSpPr>
        <p:spPr>
          <a:xfrm>
            <a:off x="3931920" y="2276856"/>
            <a:ext cx="1417320" cy="256032"/>
          </a:xfrm>
          <a:prstGeom prst="rect">
            <a:avLst/>
          </a:prstGeom>
          <a:noFill/>
        </p:spPr>
        <p:txBody>
          <a:bodyPr wrap="square" lIns="45720" rIns="45720" anchor="t">
            <a:spAutoFit/>
          </a:bodyPr>
          <a:lstStyle/>
          <a:p>
            <a:pPr>
              <a:defRPr sz="1100" b="1">
                <a:solidFill>
                  <a:srgbClr val="4A6F87"/>
                </a:solidFill>
                <a:latin typeface="Aptos"/>
              </a:defRPr>
            </a:pPr>
            <a:r>
              <a:t>Put it next</a:t>
            </a:r>
          </a:p>
        </p:txBody>
      </p:sp>
      <p:sp>
        <p:nvSpPr>
          <p:cNvPr id="16" name="TextBox 15"/>
          <p:cNvSpPr txBox="1"/>
          <p:nvPr/>
        </p:nvSpPr>
        <p:spPr>
          <a:xfrm>
            <a:off x="5486400" y="2249424"/>
            <a:ext cx="5715000" cy="502920"/>
          </a:xfrm>
          <a:prstGeom prst="rect">
            <a:avLst/>
          </a:prstGeom>
          <a:noFill/>
        </p:spPr>
        <p:txBody>
          <a:bodyPr wrap="square" lIns="45720" rIns="45720" anchor="t">
            <a:spAutoFit/>
          </a:bodyPr>
          <a:lstStyle/>
          <a:p>
            <a:pPr>
              <a:defRPr sz="1200" b="0">
                <a:solidFill>
                  <a:srgbClr val="374046"/>
                </a:solidFill>
                <a:latin typeface="Aptos"/>
              </a:defRPr>
            </a:pPr>
            <a:r>
              <a:t>Useful for customers who prefer cards, rewards or international purchases later.</a:t>
            </a:r>
          </a:p>
        </p:txBody>
      </p:sp>
      <p:sp>
        <p:nvSpPr>
          <p:cNvPr id="17" name="Rounded Rectangle 16"/>
          <p:cNvSpPr/>
          <p:nvPr/>
        </p:nvSpPr>
        <p:spPr>
          <a:xfrm>
            <a:off x="731520" y="3099816"/>
            <a:ext cx="475488" cy="475488"/>
          </a:xfrm>
          <a:prstGeom prst="roundRect">
            <a:avLst>
              <a:gd name="adj" fmla="val 8000"/>
            </a:avLst>
          </a:prstGeom>
          <a:solidFill>
            <a:srgbClr val="487058"/>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191256"/>
            <a:ext cx="475488" cy="228600"/>
          </a:xfrm>
          <a:prstGeom prst="rect">
            <a:avLst/>
          </a:prstGeom>
          <a:noFill/>
        </p:spPr>
        <p:txBody>
          <a:bodyPr wrap="square" lIns="45720" rIns="45720" anchor="t">
            <a:spAutoFit/>
          </a:bodyPr>
          <a:lstStyle/>
          <a:p>
            <a:pPr algn="ctr">
              <a:defRPr sz="1300" b="1">
                <a:solidFill>
                  <a:srgbClr val="FFFFFF"/>
                </a:solidFill>
                <a:latin typeface="Aptos"/>
              </a:defRPr>
            </a:pPr>
            <a:r>
              <a:t>3</a:t>
            </a:r>
          </a:p>
        </p:txBody>
      </p:sp>
      <p:sp>
        <p:nvSpPr>
          <p:cNvPr id="19" name="TextBox 18"/>
          <p:cNvSpPr txBox="1"/>
          <p:nvPr/>
        </p:nvSpPr>
        <p:spPr>
          <a:xfrm>
            <a:off x="1417320" y="3118104"/>
            <a:ext cx="2514600" cy="292608"/>
          </a:xfrm>
          <a:prstGeom prst="rect">
            <a:avLst/>
          </a:prstGeom>
          <a:noFill/>
        </p:spPr>
        <p:txBody>
          <a:bodyPr wrap="square" lIns="45720" rIns="45720" anchor="t">
            <a:spAutoFit/>
          </a:bodyPr>
          <a:lstStyle/>
          <a:p>
            <a:pPr>
              <a:defRPr sz="1500" b="1">
                <a:solidFill>
                  <a:srgbClr val="262F37"/>
                </a:solidFill>
                <a:latin typeface="Aptos"/>
              </a:defRPr>
            </a:pPr>
            <a:r>
              <a:t>Netbanking</a:t>
            </a:r>
          </a:p>
        </p:txBody>
      </p:sp>
      <p:sp>
        <p:nvSpPr>
          <p:cNvPr id="20" name="TextBox 19"/>
          <p:cNvSpPr txBox="1"/>
          <p:nvPr/>
        </p:nvSpPr>
        <p:spPr>
          <a:xfrm>
            <a:off x="3931920" y="3118104"/>
            <a:ext cx="1417320" cy="256032"/>
          </a:xfrm>
          <a:prstGeom prst="rect">
            <a:avLst/>
          </a:prstGeom>
          <a:noFill/>
        </p:spPr>
        <p:txBody>
          <a:bodyPr wrap="square" lIns="45720" rIns="45720" anchor="t">
            <a:spAutoFit/>
          </a:bodyPr>
          <a:lstStyle/>
          <a:p>
            <a:pPr>
              <a:defRPr sz="1100" b="1">
                <a:solidFill>
                  <a:srgbClr val="487058"/>
                </a:solidFill>
                <a:latin typeface="Aptos"/>
              </a:defRPr>
            </a:pPr>
            <a:r>
              <a:t>Keep available</a:t>
            </a:r>
          </a:p>
        </p:txBody>
      </p:sp>
      <p:sp>
        <p:nvSpPr>
          <p:cNvPr id="21" name="TextBox 20"/>
          <p:cNvSpPr txBox="1"/>
          <p:nvPr/>
        </p:nvSpPr>
        <p:spPr>
          <a:xfrm>
            <a:off x="5486400" y="3090672"/>
            <a:ext cx="5715000" cy="502920"/>
          </a:xfrm>
          <a:prstGeom prst="rect">
            <a:avLst/>
          </a:prstGeom>
          <a:noFill/>
        </p:spPr>
        <p:txBody>
          <a:bodyPr wrap="square" lIns="45720" rIns="45720" anchor="t">
            <a:spAutoFit/>
          </a:bodyPr>
          <a:lstStyle/>
          <a:p>
            <a:pPr>
              <a:defRPr sz="1200" b="0">
                <a:solidFill>
                  <a:srgbClr val="374046"/>
                </a:solidFill>
                <a:latin typeface="Aptos"/>
              </a:defRPr>
            </a:pPr>
            <a:r>
              <a:t>Some customers still prefer paying directly through their bank.</a:t>
            </a:r>
          </a:p>
        </p:txBody>
      </p:sp>
      <p:sp>
        <p:nvSpPr>
          <p:cNvPr id="22" name="Rounded Rectangle 21"/>
          <p:cNvSpPr/>
          <p:nvPr/>
        </p:nvSpPr>
        <p:spPr>
          <a:xfrm>
            <a:off x="731520" y="3941064"/>
            <a:ext cx="475488" cy="475488"/>
          </a:xfrm>
          <a:prstGeom prst="roundRect">
            <a:avLst>
              <a:gd name="adj" fmla="val 8000"/>
            </a:avLst>
          </a:prstGeom>
          <a:solidFill>
            <a:srgbClr val="AD843B"/>
          </a:solidFill>
          <a:ln>
            <a:solidFill>
              <a:srgbClr val="AD84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032504"/>
            <a:ext cx="475488" cy="228600"/>
          </a:xfrm>
          <a:prstGeom prst="rect">
            <a:avLst/>
          </a:prstGeom>
          <a:noFill/>
        </p:spPr>
        <p:txBody>
          <a:bodyPr wrap="square" lIns="45720" rIns="45720" anchor="t">
            <a:spAutoFit/>
          </a:bodyPr>
          <a:lstStyle/>
          <a:p>
            <a:pPr algn="ctr">
              <a:defRPr sz="1300" b="1">
                <a:solidFill>
                  <a:srgbClr val="FFFFFF"/>
                </a:solidFill>
                <a:latin typeface="Aptos"/>
              </a:defRPr>
            </a:pPr>
            <a:r>
              <a:t>4</a:t>
            </a:r>
          </a:p>
        </p:txBody>
      </p:sp>
      <p:sp>
        <p:nvSpPr>
          <p:cNvPr id="24" name="TextBox 23"/>
          <p:cNvSpPr txBox="1"/>
          <p:nvPr/>
        </p:nvSpPr>
        <p:spPr>
          <a:xfrm>
            <a:off x="1417320" y="3959352"/>
            <a:ext cx="2514600" cy="292608"/>
          </a:xfrm>
          <a:prstGeom prst="rect">
            <a:avLst/>
          </a:prstGeom>
          <a:noFill/>
        </p:spPr>
        <p:txBody>
          <a:bodyPr wrap="square" lIns="45720" rIns="45720" anchor="t">
            <a:spAutoFit/>
          </a:bodyPr>
          <a:lstStyle/>
          <a:p>
            <a:pPr>
              <a:defRPr sz="1500" b="1">
                <a:solidFill>
                  <a:srgbClr val="262F37"/>
                </a:solidFill>
                <a:latin typeface="Aptos"/>
              </a:defRPr>
            </a:pPr>
            <a:r>
              <a:t>Wallets</a:t>
            </a:r>
          </a:p>
        </p:txBody>
      </p:sp>
      <p:sp>
        <p:nvSpPr>
          <p:cNvPr id="25" name="TextBox 24"/>
          <p:cNvSpPr txBox="1"/>
          <p:nvPr/>
        </p:nvSpPr>
        <p:spPr>
          <a:xfrm>
            <a:off x="3931920" y="3959352"/>
            <a:ext cx="1417320" cy="256032"/>
          </a:xfrm>
          <a:prstGeom prst="rect">
            <a:avLst/>
          </a:prstGeom>
          <a:noFill/>
        </p:spPr>
        <p:txBody>
          <a:bodyPr wrap="square" lIns="45720" rIns="45720" anchor="t">
            <a:spAutoFit/>
          </a:bodyPr>
          <a:lstStyle/>
          <a:p>
            <a:pPr>
              <a:defRPr sz="1100" b="1">
                <a:solidFill>
                  <a:srgbClr val="AD843B"/>
                </a:solidFill>
                <a:latin typeface="Aptos"/>
              </a:defRPr>
            </a:pPr>
            <a:r>
              <a:t>Add selectively</a:t>
            </a:r>
          </a:p>
        </p:txBody>
      </p:sp>
      <p:sp>
        <p:nvSpPr>
          <p:cNvPr id="26" name="TextBox 25"/>
          <p:cNvSpPr txBox="1"/>
          <p:nvPr/>
        </p:nvSpPr>
        <p:spPr>
          <a:xfrm>
            <a:off x="5486400" y="3931920"/>
            <a:ext cx="5715000" cy="502920"/>
          </a:xfrm>
          <a:prstGeom prst="rect">
            <a:avLst/>
          </a:prstGeom>
          <a:noFill/>
        </p:spPr>
        <p:txBody>
          <a:bodyPr wrap="square" lIns="45720" rIns="45720" anchor="t">
            <a:spAutoFit/>
          </a:bodyPr>
          <a:lstStyle/>
          <a:p>
            <a:pPr>
              <a:defRPr sz="1200" b="0">
                <a:solidFill>
                  <a:srgbClr val="374046"/>
                </a:solidFill>
                <a:latin typeface="Aptos"/>
              </a:defRPr>
            </a:pPr>
            <a:r>
              <a:t>Enable common wallets if the provider supports them at a sensible cost.</a:t>
            </a:r>
          </a:p>
        </p:txBody>
      </p:sp>
      <p:sp>
        <p:nvSpPr>
          <p:cNvPr id="27" name="Rounded Rectangle 26"/>
          <p:cNvSpPr/>
          <p:nvPr/>
        </p:nvSpPr>
        <p:spPr>
          <a:xfrm>
            <a:off x="731520" y="4782312"/>
            <a:ext cx="475488" cy="475488"/>
          </a:xfrm>
          <a:prstGeom prst="roundRect">
            <a:avLst>
              <a:gd name="adj" fmla="val 8000"/>
            </a:avLst>
          </a:prstGeom>
          <a:solidFill>
            <a:srgbClr val="676F74"/>
          </a:solidFill>
          <a:ln>
            <a:solidFill>
              <a:srgbClr val="676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873752"/>
            <a:ext cx="475488" cy="228600"/>
          </a:xfrm>
          <a:prstGeom prst="rect">
            <a:avLst/>
          </a:prstGeom>
          <a:noFill/>
        </p:spPr>
        <p:txBody>
          <a:bodyPr wrap="square" lIns="45720" rIns="45720" anchor="t">
            <a:spAutoFit/>
          </a:bodyPr>
          <a:lstStyle/>
          <a:p>
            <a:pPr algn="ctr">
              <a:defRPr sz="1300" b="1">
                <a:solidFill>
                  <a:srgbClr val="FFFFFF"/>
                </a:solidFill>
                <a:latin typeface="Aptos"/>
              </a:defRPr>
            </a:pPr>
            <a:r>
              <a:t>5</a:t>
            </a:r>
          </a:p>
        </p:txBody>
      </p:sp>
      <p:sp>
        <p:nvSpPr>
          <p:cNvPr id="29" name="TextBox 28"/>
          <p:cNvSpPr txBox="1"/>
          <p:nvPr/>
        </p:nvSpPr>
        <p:spPr>
          <a:xfrm>
            <a:off x="1417320" y="4800600"/>
            <a:ext cx="2514600" cy="292608"/>
          </a:xfrm>
          <a:prstGeom prst="rect">
            <a:avLst/>
          </a:prstGeom>
          <a:noFill/>
        </p:spPr>
        <p:txBody>
          <a:bodyPr wrap="square" lIns="45720" rIns="45720" anchor="t">
            <a:spAutoFit/>
          </a:bodyPr>
          <a:lstStyle/>
          <a:p>
            <a:pPr>
              <a:defRPr sz="1500" b="1">
                <a:solidFill>
                  <a:srgbClr val="262F37"/>
                </a:solidFill>
                <a:latin typeface="Aptos"/>
              </a:defRPr>
            </a:pPr>
            <a:r>
              <a:t>EMI / pay later</a:t>
            </a:r>
          </a:p>
        </p:txBody>
      </p:sp>
      <p:sp>
        <p:nvSpPr>
          <p:cNvPr id="30" name="TextBox 29"/>
          <p:cNvSpPr txBox="1"/>
          <p:nvPr/>
        </p:nvSpPr>
        <p:spPr>
          <a:xfrm>
            <a:off x="3931920" y="4800600"/>
            <a:ext cx="1417320" cy="256032"/>
          </a:xfrm>
          <a:prstGeom prst="rect">
            <a:avLst/>
          </a:prstGeom>
          <a:noFill/>
        </p:spPr>
        <p:txBody>
          <a:bodyPr wrap="square" lIns="45720" rIns="45720" anchor="t">
            <a:spAutoFit/>
          </a:bodyPr>
          <a:lstStyle/>
          <a:p>
            <a:pPr>
              <a:defRPr sz="1100" b="1">
                <a:solidFill>
                  <a:srgbClr val="676F74"/>
                </a:solidFill>
                <a:latin typeface="Aptos"/>
              </a:defRPr>
            </a:pPr>
            <a:r>
              <a:t>Review later</a:t>
            </a:r>
          </a:p>
        </p:txBody>
      </p:sp>
      <p:sp>
        <p:nvSpPr>
          <p:cNvPr id="31" name="TextBox 30"/>
          <p:cNvSpPr txBox="1"/>
          <p:nvPr/>
        </p:nvSpPr>
        <p:spPr>
          <a:xfrm>
            <a:off x="5486400" y="4773168"/>
            <a:ext cx="5715000" cy="502920"/>
          </a:xfrm>
          <a:prstGeom prst="rect">
            <a:avLst/>
          </a:prstGeom>
          <a:noFill/>
        </p:spPr>
        <p:txBody>
          <a:bodyPr wrap="square" lIns="45720" rIns="45720" anchor="t">
            <a:spAutoFit/>
          </a:bodyPr>
          <a:lstStyle/>
          <a:p>
            <a:pPr>
              <a:defRPr sz="1200" b="0">
                <a:solidFill>
                  <a:srgbClr val="374046"/>
                </a:solidFill>
                <a:latin typeface="Aptos"/>
              </a:defRPr>
            </a:pPr>
            <a:r>
              <a:t>At a ₹600 average order, I would wait for evidence that customers need it.</a:t>
            </a:r>
          </a:p>
        </p:txBody>
      </p:sp>
      <p:sp>
        <p:nvSpPr>
          <p:cNvPr id="32" name="TextBox 31"/>
          <p:cNvSpPr txBox="1"/>
          <p:nvPr/>
        </p:nvSpPr>
        <p:spPr>
          <a:xfrm>
            <a:off x="777240" y="5806440"/>
            <a:ext cx="10698480" cy="320040"/>
          </a:xfrm>
          <a:prstGeom prst="rect">
            <a:avLst/>
          </a:prstGeom>
          <a:noFill/>
        </p:spPr>
        <p:txBody>
          <a:bodyPr wrap="square" lIns="45720" rIns="45720" anchor="t">
            <a:spAutoFit/>
          </a:bodyPr>
          <a:lstStyle/>
          <a:p>
            <a:pPr>
              <a:defRPr sz="1400" b="1">
                <a:solidFill>
                  <a:srgbClr val="262F37"/>
                </a:solidFill>
                <a:latin typeface="Aptos"/>
              </a:defRPr>
            </a:pPr>
            <a:r>
              <a:t>Keep the first screen uncluttered: UPI and cards should be easy to spot.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Checkout: branded hosted is the best starting point</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05</a:t>
            </a:r>
          </a:p>
        </p:txBody>
      </p:sp>
      <p:sp>
        <p:nvSpPr>
          <p:cNvPr id="7" name="Rounded Rectangle 6"/>
          <p:cNvSpPr/>
          <p:nvPr/>
        </p:nvSpPr>
        <p:spPr>
          <a:xfrm>
            <a:off x="594360" y="1645920"/>
            <a:ext cx="2606040" cy="3154680"/>
          </a:xfrm>
          <a:prstGeom prst="roundRect">
            <a:avLst>
              <a:gd name="adj" fmla="val 8000"/>
            </a:avLst>
          </a:prstGeom>
          <a:solidFill>
            <a:srgbClr val="FFFFFF"/>
          </a:solidFill>
          <a:ln>
            <a:solidFill>
              <a:srgbClr val="974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 y="1874519"/>
            <a:ext cx="2313432" cy="274320"/>
          </a:xfrm>
          <a:prstGeom prst="rect">
            <a:avLst/>
          </a:prstGeom>
          <a:noFill/>
        </p:spPr>
        <p:txBody>
          <a:bodyPr wrap="square" lIns="45720" rIns="45720" anchor="t">
            <a:spAutoFit/>
          </a:bodyPr>
          <a:lstStyle/>
          <a:p>
            <a:pPr algn="ctr">
              <a:defRPr sz="1200" b="1">
                <a:solidFill>
                  <a:srgbClr val="974B41"/>
                </a:solidFill>
                <a:latin typeface="Aptos"/>
              </a:defRPr>
            </a:pPr>
            <a:r>
              <a:t>REDIRECT</a:t>
            </a:r>
          </a:p>
        </p:txBody>
      </p:sp>
      <p:sp>
        <p:nvSpPr>
          <p:cNvPr id="9" name="TextBox 8"/>
          <p:cNvSpPr txBox="1"/>
          <p:nvPr/>
        </p:nvSpPr>
        <p:spPr>
          <a:xfrm>
            <a:off x="740664" y="2331720"/>
            <a:ext cx="2313432" cy="502920"/>
          </a:xfrm>
          <a:prstGeom prst="rect">
            <a:avLst/>
          </a:prstGeom>
          <a:noFill/>
        </p:spPr>
        <p:txBody>
          <a:bodyPr wrap="square" lIns="45720" rIns="45720" anchor="t">
            <a:spAutoFit/>
          </a:bodyPr>
          <a:lstStyle/>
          <a:p>
            <a:pPr algn="ctr">
              <a:defRPr sz="1600" b="1">
                <a:solidFill>
                  <a:srgbClr val="262F37"/>
                </a:solidFill>
                <a:latin typeface="Aptos"/>
              </a:defRPr>
            </a:pPr>
            <a:r>
              <a:t>Quick to set up</a:t>
            </a:r>
          </a:p>
        </p:txBody>
      </p:sp>
      <p:sp>
        <p:nvSpPr>
          <p:cNvPr id="10" name="TextBox 9"/>
          <p:cNvSpPr txBox="1"/>
          <p:nvPr/>
        </p:nvSpPr>
        <p:spPr>
          <a:xfrm>
            <a:off x="777240" y="3017520"/>
            <a:ext cx="2240280" cy="1280160"/>
          </a:xfrm>
          <a:prstGeom prst="rect">
            <a:avLst/>
          </a:prstGeom>
          <a:noFill/>
        </p:spPr>
        <p:txBody>
          <a:bodyPr wrap="square" lIns="45720" rIns="45720" anchor="t">
            <a:spAutoFit/>
          </a:bodyPr>
          <a:lstStyle/>
          <a:p>
            <a:pPr algn="ctr">
              <a:defRPr sz="1200" b="0">
                <a:solidFill>
                  <a:srgbClr val="374046"/>
                </a:solidFill>
                <a:latin typeface="Aptos"/>
              </a:defRPr>
            </a:pPr>
            <a:r>
              <a:t>The customer moves to a provider page. A sudden change of screen can feel less connected.</a:t>
            </a:r>
          </a:p>
        </p:txBody>
      </p:sp>
      <p:sp>
        <p:nvSpPr>
          <p:cNvPr id="11" name="Rounded Rectangle 10"/>
          <p:cNvSpPr/>
          <p:nvPr/>
        </p:nvSpPr>
        <p:spPr>
          <a:xfrm>
            <a:off x="3502152" y="1645920"/>
            <a:ext cx="2606040" cy="3154680"/>
          </a:xfrm>
          <a:prstGeom prst="roundRect">
            <a:avLst>
              <a:gd name="adj" fmla="val 8000"/>
            </a:avLst>
          </a:prstGeom>
          <a:solidFill>
            <a:srgbClr val="FFFFFF"/>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48456" y="1874519"/>
            <a:ext cx="2313432" cy="274320"/>
          </a:xfrm>
          <a:prstGeom prst="rect">
            <a:avLst/>
          </a:prstGeom>
          <a:noFill/>
        </p:spPr>
        <p:txBody>
          <a:bodyPr wrap="square" lIns="45720" rIns="45720" anchor="t">
            <a:spAutoFit/>
          </a:bodyPr>
          <a:lstStyle/>
          <a:p>
            <a:pPr algn="ctr">
              <a:defRPr sz="1200" b="1">
                <a:solidFill>
                  <a:srgbClr val="487058"/>
                </a:solidFill>
                <a:latin typeface="Aptos"/>
              </a:defRPr>
            </a:pPr>
            <a:r>
              <a:t>HOSTED</a:t>
            </a:r>
          </a:p>
        </p:txBody>
      </p:sp>
      <p:sp>
        <p:nvSpPr>
          <p:cNvPr id="13" name="TextBox 12"/>
          <p:cNvSpPr txBox="1"/>
          <p:nvPr/>
        </p:nvSpPr>
        <p:spPr>
          <a:xfrm>
            <a:off x="3648456" y="2331720"/>
            <a:ext cx="2313432" cy="502920"/>
          </a:xfrm>
          <a:prstGeom prst="rect">
            <a:avLst/>
          </a:prstGeom>
          <a:noFill/>
        </p:spPr>
        <p:txBody>
          <a:bodyPr wrap="square" lIns="45720" rIns="45720" anchor="t">
            <a:spAutoFit/>
          </a:bodyPr>
          <a:lstStyle/>
          <a:p>
            <a:pPr algn="ctr">
              <a:defRPr sz="1600" b="1">
                <a:solidFill>
                  <a:srgbClr val="262F37"/>
                </a:solidFill>
                <a:latin typeface="Aptos"/>
              </a:defRPr>
            </a:pPr>
            <a:r>
              <a:t>Good balance</a:t>
            </a:r>
          </a:p>
        </p:txBody>
      </p:sp>
      <p:sp>
        <p:nvSpPr>
          <p:cNvPr id="14" name="TextBox 13"/>
          <p:cNvSpPr txBox="1"/>
          <p:nvPr/>
        </p:nvSpPr>
        <p:spPr>
          <a:xfrm>
            <a:off x="3685032" y="3017520"/>
            <a:ext cx="2240280" cy="1280160"/>
          </a:xfrm>
          <a:prstGeom prst="rect">
            <a:avLst/>
          </a:prstGeom>
          <a:noFill/>
        </p:spPr>
        <p:txBody>
          <a:bodyPr wrap="square" lIns="45720" rIns="45720" anchor="t">
            <a:spAutoFit/>
          </a:bodyPr>
          <a:lstStyle/>
          <a:p>
            <a:pPr algn="ctr">
              <a:defRPr sz="1200" b="0">
                <a:solidFill>
                  <a:srgbClr val="374046"/>
                </a:solidFill>
                <a:latin typeface="Aptos"/>
              </a:defRPr>
            </a:pPr>
            <a:r>
              <a:t>The provider handles secure payment entry. It is quicker to launch and can reduce card-data exposure.</a:t>
            </a:r>
          </a:p>
        </p:txBody>
      </p:sp>
      <p:sp>
        <p:nvSpPr>
          <p:cNvPr id="15" name="Rounded Rectangle 14"/>
          <p:cNvSpPr/>
          <p:nvPr/>
        </p:nvSpPr>
        <p:spPr>
          <a:xfrm>
            <a:off x="6409944" y="1645920"/>
            <a:ext cx="2606040" cy="3154680"/>
          </a:xfrm>
          <a:prstGeom prst="roundRect">
            <a:avLst>
              <a:gd name="adj" fmla="val 8000"/>
            </a:avLst>
          </a:prstGeom>
          <a:solidFill>
            <a:srgbClr val="FFFFFF"/>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56248" y="1874519"/>
            <a:ext cx="2313432" cy="274320"/>
          </a:xfrm>
          <a:prstGeom prst="rect">
            <a:avLst/>
          </a:prstGeom>
          <a:noFill/>
        </p:spPr>
        <p:txBody>
          <a:bodyPr wrap="square" lIns="45720" rIns="45720" anchor="t">
            <a:spAutoFit/>
          </a:bodyPr>
          <a:lstStyle/>
          <a:p>
            <a:pPr algn="ctr">
              <a:defRPr sz="1200" b="1">
                <a:solidFill>
                  <a:srgbClr val="4A6F87"/>
                </a:solidFill>
                <a:latin typeface="Aptos"/>
              </a:defRPr>
            </a:pPr>
            <a:r>
              <a:t>API / EMBEDDED</a:t>
            </a:r>
          </a:p>
        </p:txBody>
      </p:sp>
      <p:sp>
        <p:nvSpPr>
          <p:cNvPr id="17" name="TextBox 16"/>
          <p:cNvSpPr txBox="1"/>
          <p:nvPr/>
        </p:nvSpPr>
        <p:spPr>
          <a:xfrm>
            <a:off x="6556248" y="2331720"/>
            <a:ext cx="2313432" cy="502920"/>
          </a:xfrm>
          <a:prstGeom prst="rect">
            <a:avLst/>
          </a:prstGeom>
          <a:noFill/>
        </p:spPr>
        <p:txBody>
          <a:bodyPr wrap="square" lIns="45720" rIns="45720" anchor="t">
            <a:spAutoFit/>
          </a:bodyPr>
          <a:lstStyle/>
          <a:p>
            <a:pPr algn="ctr">
              <a:defRPr sz="1600" b="1">
                <a:solidFill>
                  <a:srgbClr val="262F37"/>
                </a:solidFill>
                <a:latin typeface="Aptos"/>
              </a:defRPr>
            </a:pPr>
            <a:r>
              <a:t>More control</a:t>
            </a:r>
          </a:p>
        </p:txBody>
      </p:sp>
      <p:sp>
        <p:nvSpPr>
          <p:cNvPr id="18" name="TextBox 17"/>
          <p:cNvSpPr txBox="1"/>
          <p:nvPr/>
        </p:nvSpPr>
        <p:spPr>
          <a:xfrm>
            <a:off x="6592824" y="3017520"/>
            <a:ext cx="2240280" cy="1280160"/>
          </a:xfrm>
          <a:prstGeom prst="rect">
            <a:avLst/>
          </a:prstGeom>
          <a:noFill/>
        </p:spPr>
        <p:txBody>
          <a:bodyPr wrap="square" lIns="45720" rIns="45720" anchor="t">
            <a:spAutoFit/>
          </a:bodyPr>
          <a:lstStyle/>
          <a:p>
            <a:pPr algn="ctr">
              <a:defRPr sz="1200" b="0">
                <a:solidFill>
                  <a:srgbClr val="374046"/>
                </a:solidFill>
                <a:latin typeface="Aptos"/>
              </a:defRPr>
            </a:pPr>
            <a:r>
              <a:t>A custom flow gives more design control, but needs more engineering and security work.</a:t>
            </a:r>
          </a:p>
        </p:txBody>
      </p:sp>
      <p:sp>
        <p:nvSpPr>
          <p:cNvPr id="19" name="Rounded Rectangle 18"/>
          <p:cNvSpPr/>
          <p:nvPr/>
        </p:nvSpPr>
        <p:spPr>
          <a:xfrm>
            <a:off x="9317736" y="1645920"/>
            <a:ext cx="2606040" cy="3154680"/>
          </a:xfrm>
          <a:prstGeom prst="roundRect">
            <a:avLst>
              <a:gd name="adj" fmla="val 8000"/>
            </a:avLst>
          </a:prstGeom>
          <a:solidFill>
            <a:srgbClr val="FFFFFF"/>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64040" y="1874519"/>
            <a:ext cx="2313432" cy="274320"/>
          </a:xfrm>
          <a:prstGeom prst="rect">
            <a:avLst/>
          </a:prstGeom>
          <a:noFill/>
        </p:spPr>
        <p:txBody>
          <a:bodyPr wrap="square" lIns="45720" rIns="45720" anchor="t">
            <a:spAutoFit/>
          </a:bodyPr>
          <a:lstStyle/>
          <a:p>
            <a:pPr algn="ctr">
              <a:defRPr sz="1200" b="1">
                <a:solidFill>
                  <a:srgbClr val="9D5B33"/>
                </a:solidFill>
                <a:latin typeface="Aptos"/>
              </a:defRPr>
            </a:pPr>
            <a:r>
              <a:t>WHITE-LABEL</a:t>
            </a:r>
          </a:p>
        </p:txBody>
      </p:sp>
      <p:sp>
        <p:nvSpPr>
          <p:cNvPr id="21" name="TextBox 20"/>
          <p:cNvSpPr txBox="1"/>
          <p:nvPr/>
        </p:nvSpPr>
        <p:spPr>
          <a:xfrm>
            <a:off x="9464040" y="2331720"/>
            <a:ext cx="2313432" cy="502920"/>
          </a:xfrm>
          <a:prstGeom prst="rect">
            <a:avLst/>
          </a:prstGeom>
          <a:noFill/>
        </p:spPr>
        <p:txBody>
          <a:bodyPr wrap="square" lIns="45720" rIns="45720" anchor="t">
            <a:spAutoFit/>
          </a:bodyPr>
          <a:lstStyle/>
          <a:p>
            <a:pPr algn="ctr">
              <a:defRPr sz="1600" b="1">
                <a:solidFill>
                  <a:srgbClr val="262F37"/>
                </a:solidFill>
                <a:latin typeface="Aptos"/>
              </a:defRPr>
            </a:pPr>
            <a:r>
              <a:t>Preferred look</a:t>
            </a:r>
          </a:p>
        </p:txBody>
      </p:sp>
      <p:sp>
        <p:nvSpPr>
          <p:cNvPr id="22" name="TextBox 21"/>
          <p:cNvSpPr txBox="1"/>
          <p:nvPr/>
        </p:nvSpPr>
        <p:spPr>
          <a:xfrm>
            <a:off x="9500616" y="3017520"/>
            <a:ext cx="2240280" cy="1280160"/>
          </a:xfrm>
          <a:prstGeom prst="rect">
            <a:avLst/>
          </a:prstGeom>
          <a:noFill/>
        </p:spPr>
        <p:txBody>
          <a:bodyPr wrap="square" lIns="45720" rIns="45720" anchor="t">
            <a:spAutoFit/>
          </a:bodyPr>
          <a:lstStyle/>
          <a:p>
            <a:pPr algn="ctr">
              <a:defRPr sz="1200" b="0">
                <a:solidFill>
                  <a:srgbClr val="374046"/>
                </a:solidFill>
                <a:latin typeface="Aptos"/>
              </a:defRPr>
            </a:pPr>
            <a:r>
              <a:t>A hosted flow with Chai &amp; Co branding can feel more consistent across web and app.</a:t>
            </a:r>
          </a:p>
        </p:txBody>
      </p:sp>
      <p:sp>
        <p:nvSpPr>
          <p:cNvPr id="23" name="Rounded Rectangle 22"/>
          <p:cNvSpPr/>
          <p:nvPr/>
        </p:nvSpPr>
        <p:spPr>
          <a:xfrm>
            <a:off x="1417320" y="5166360"/>
            <a:ext cx="9326880" cy="640080"/>
          </a:xfrm>
          <a:prstGeom prst="roundRect">
            <a:avLst>
              <a:gd name="adj" fmla="val 8000"/>
            </a:avLst>
          </a:prstGeom>
          <a:solidFill>
            <a:srgbClr val="F2EBDE"/>
          </a:solidFill>
          <a:ln>
            <a:solidFill>
              <a:srgbClr val="F2E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645920" y="5330952"/>
            <a:ext cx="8869680" cy="274320"/>
          </a:xfrm>
          <a:prstGeom prst="rect">
            <a:avLst/>
          </a:prstGeom>
          <a:noFill/>
        </p:spPr>
        <p:txBody>
          <a:bodyPr wrap="square" lIns="45720" rIns="45720" anchor="t">
            <a:spAutoFit/>
          </a:bodyPr>
          <a:lstStyle/>
          <a:p>
            <a:pPr algn="ctr">
              <a:defRPr sz="1500" b="1">
                <a:solidFill>
                  <a:srgbClr val="262F37"/>
                </a:solidFill>
                <a:latin typeface="Aptos"/>
              </a:defRPr>
            </a:pPr>
            <a:r>
              <a:t>Choice: branded hosted checkout, with a provider SDK or app links where needed.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Why use a payment aggregator at launch?</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06</a:t>
            </a:r>
          </a:p>
        </p:txBody>
      </p:sp>
      <p:sp>
        <p:nvSpPr>
          <p:cNvPr id="7" name="Rounded Rectangle 6"/>
          <p:cNvSpPr/>
          <p:nvPr/>
        </p:nvSpPr>
        <p:spPr>
          <a:xfrm>
            <a:off x="731520" y="1600200"/>
            <a:ext cx="5120640" cy="3566160"/>
          </a:xfrm>
          <a:prstGeom prst="roundRect">
            <a:avLst>
              <a:gd name="adj" fmla="val 8000"/>
            </a:avLst>
          </a:prstGeom>
          <a:solidFill>
            <a:srgbClr val="FFFFFF"/>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874519"/>
            <a:ext cx="4572000" cy="320040"/>
          </a:xfrm>
          <a:prstGeom prst="rect">
            <a:avLst/>
          </a:prstGeom>
          <a:noFill/>
        </p:spPr>
        <p:txBody>
          <a:bodyPr wrap="square" lIns="45720" rIns="45720" anchor="t">
            <a:spAutoFit/>
          </a:bodyPr>
          <a:lstStyle/>
          <a:p>
            <a:pPr algn="ctr">
              <a:defRPr sz="1500" b="1">
                <a:solidFill>
                  <a:srgbClr val="487058"/>
                </a:solidFill>
                <a:latin typeface="Aptos"/>
              </a:defRPr>
            </a:pPr>
            <a:r>
              <a:t>PAYMENT AGGREGATOR</a:t>
            </a:r>
          </a:p>
        </p:txBody>
      </p:sp>
      <p:sp>
        <p:nvSpPr>
          <p:cNvPr id="9" name="TextBox 8"/>
          <p:cNvSpPr txBox="1"/>
          <p:nvPr/>
        </p:nvSpPr>
        <p:spPr>
          <a:xfrm>
            <a:off x="1051560" y="2377440"/>
            <a:ext cx="4526280" cy="2377440"/>
          </a:xfrm>
          <a:prstGeom prst="rect">
            <a:avLst/>
          </a:prstGeom>
          <a:noFill/>
        </p:spPr>
        <p:txBody>
          <a:bodyPr wrap="square" lIns="45720" tIns="18288" rIns="45720" bIns="18288">
            <a:spAutoFit/>
          </a:bodyPr>
          <a:lstStyle/>
          <a:p>
            <a:pPr>
              <a:spcAft>
                <a:spcPts val="800"/>
              </a:spcAft>
              <a:defRPr sz="1400">
                <a:solidFill>
                  <a:srgbClr val="262F37"/>
                </a:solidFill>
                <a:latin typeface="Aptos"/>
              </a:defRPr>
            </a:pPr>
            <a:r>
              <a:t>•  One integration for several payment methods.</a:t>
            </a:r>
          </a:p>
          <a:p>
            <a:pPr>
              <a:spcAft>
                <a:spcPts val="800"/>
              </a:spcAft>
              <a:defRPr sz="1400">
                <a:solidFill>
                  <a:srgbClr val="262F37"/>
                </a:solidFill>
                <a:latin typeface="Aptos"/>
              </a:defRPr>
            </a:pPr>
            <a:r>
              <a:t>•  Usually faster to launch and easier to support.</a:t>
            </a:r>
          </a:p>
          <a:p>
            <a:pPr>
              <a:spcAft>
                <a:spcPts val="800"/>
              </a:spcAft>
              <a:defRPr sz="1400">
                <a:solidFill>
                  <a:srgbClr val="262F37"/>
                </a:solidFill>
                <a:latin typeface="Aptos"/>
              </a:defRPr>
            </a:pPr>
            <a:r>
              <a:t>•  Can provide refunds, transaction reports and webhooks.</a:t>
            </a:r>
          </a:p>
          <a:p>
            <a:pPr>
              <a:spcAft>
                <a:spcPts val="800"/>
              </a:spcAft>
              <a:defRPr sz="1400">
                <a:solidFill>
                  <a:srgbClr val="262F37"/>
                </a:solidFill>
                <a:latin typeface="Aptos"/>
              </a:defRPr>
            </a:pPr>
            <a:r>
              <a:t>•  Fees and settlement terms depend on the contract.</a:t>
            </a:r>
          </a:p>
        </p:txBody>
      </p:sp>
      <p:sp>
        <p:nvSpPr>
          <p:cNvPr id="10" name="Rounded Rectangle 9"/>
          <p:cNvSpPr/>
          <p:nvPr/>
        </p:nvSpPr>
        <p:spPr>
          <a:xfrm>
            <a:off x="6355080" y="1600200"/>
            <a:ext cx="5120640" cy="3566160"/>
          </a:xfrm>
          <a:prstGeom prst="roundRect">
            <a:avLst>
              <a:gd name="adj" fmla="val 8000"/>
            </a:avLst>
          </a:prstGeom>
          <a:solidFill>
            <a:srgbClr val="FFFFFF"/>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1874519"/>
            <a:ext cx="4572000" cy="320040"/>
          </a:xfrm>
          <a:prstGeom prst="rect">
            <a:avLst/>
          </a:prstGeom>
          <a:noFill/>
        </p:spPr>
        <p:txBody>
          <a:bodyPr wrap="square" lIns="45720" rIns="45720" anchor="t">
            <a:spAutoFit/>
          </a:bodyPr>
          <a:lstStyle/>
          <a:p>
            <a:pPr algn="ctr">
              <a:defRPr sz="1500" b="1">
                <a:solidFill>
                  <a:srgbClr val="4A6F87"/>
                </a:solidFill>
                <a:latin typeface="Aptos"/>
              </a:defRPr>
            </a:pPr>
            <a:r>
              <a:t>DIRECT ACQUIRING</a:t>
            </a:r>
          </a:p>
        </p:txBody>
      </p:sp>
      <p:sp>
        <p:nvSpPr>
          <p:cNvPr id="12" name="TextBox 11"/>
          <p:cNvSpPr txBox="1"/>
          <p:nvPr/>
        </p:nvSpPr>
        <p:spPr>
          <a:xfrm>
            <a:off x="6675120" y="2377440"/>
            <a:ext cx="4526280" cy="2377440"/>
          </a:xfrm>
          <a:prstGeom prst="rect">
            <a:avLst/>
          </a:prstGeom>
          <a:noFill/>
        </p:spPr>
        <p:txBody>
          <a:bodyPr wrap="square" lIns="45720" tIns="18288" rIns="45720" bIns="18288">
            <a:spAutoFit/>
          </a:bodyPr>
          <a:lstStyle/>
          <a:p>
            <a:pPr>
              <a:spcAft>
                <a:spcPts val="800"/>
              </a:spcAft>
              <a:defRPr sz="1400">
                <a:solidFill>
                  <a:srgbClr val="262F37"/>
                </a:solidFill>
                <a:latin typeface="Aptos"/>
              </a:defRPr>
            </a:pPr>
            <a:r>
              <a:t>•  May offer better rates when volumes are larger.</a:t>
            </a:r>
          </a:p>
          <a:p>
            <a:pPr>
              <a:spcAft>
                <a:spcPts val="800"/>
              </a:spcAft>
              <a:defRPr sz="1400">
                <a:solidFill>
                  <a:srgbClr val="262F37"/>
                </a:solidFill>
                <a:latin typeface="Aptos"/>
              </a:defRPr>
            </a:pPr>
            <a:r>
              <a:t>•  Can mean more separate bank and vendor relationships.</a:t>
            </a:r>
          </a:p>
          <a:p>
            <a:pPr>
              <a:spcAft>
                <a:spcPts val="800"/>
              </a:spcAft>
              <a:defRPr sz="1400">
                <a:solidFill>
                  <a:srgbClr val="262F37"/>
                </a:solidFill>
                <a:latin typeface="Aptos"/>
              </a:defRPr>
            </a:pPr>
            <a:r>
              <a:t>•  Needs stronger internal payment operations.</a:t>
            </a:r>
          </a:p>
          <a:p>
            <a:pPr>
              <a:spcAft>
                <a:spcPts val="800"/>
              </a:spcAft>
              <a:defRPr sz="1400">
                <a:solidFill>
                  <a:srgbClr val="262F37"/>
                </a:solidFill>
                <a:latin typeface="Aptos"/>
              </a:defRPr>
            </a:pPr>
            <a:r>
              <a:t>•  Not automatically the cheapest option overall.</a:t>
            </a:r>
          </a:p>
        </p:txBody>
      </p:sp>
      <p:sp>
        <p:nvSpPr>
          <p:cNvPr id="13" name="TextBox 12"/>
          <p:cNvSpPr txBox="1"/>
          <p:nvPr/>
        </p:nvSpPr>
        <p:spPr>
          <a:xfrm>
            <a:off x="822960" y="5532120"/>
            <a:ext cx="10515600" cy="411480"/>
          </a:xfrm>
          <a:prstGeom prst="rect">
            <a:avLst/>
          </a:prstGeom>
          <a:noFill/>
        </p:spPr>
        <p:txBody>
          <a:bodyPr wrap="square" lIns="45720" rIns="45720" anchor="t">
            <a:spAutoFit/>
          </a:bodyPr>
          <a:lstStyle/>
          <a:p>
            <a:pPr>
              <a:defRPr sz="1400" b="1">
                <a:solidFill>
                  <a:srgbClr val="262F37"/>
                </a:solidFill>
                <a:latin typeface="Aptos"/>
              </a:defRPr>
            </a:pPr>
            <a:r>
              <a:t>I would compare direct acquiring again once transaction volume and the team's capacity have grown.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What might payment fees cost each month?</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07</a:t>
            </a:r>
          </a:p>
        </p:txBody>
      </p:sp>
      <p:sp>
        <p:nvSpPr>
          <p:cNvPr id="7" name="TextBox 6"/>
          <p:cNvSpPr txBox="1"/>
          <p:nvPr/>
        </p:nvSpPr>
        <p:spPr>
          <a:xfrm>
            <a:off x="731520" y="1325880"/>
            <a:ext cx="10607040" cy="320040"/>
          </a:xfrm>
          <a:prstGeom prst="rect">
            <a:avLst/>
          </a:prstGeom>
          <a:noFill/>
        </p:spPr>
        <p:txBody>
          <a:bodyPr wrap="square" lIns="45720" rIns="45720" anchor="t">
            <a:spAutoFit/>
          </a:bodyPr>
          <a:lstStyle/>
          <a:p>
            <a:pPr>
              <a:defRPr sz="1200" b="0">
                <a:solidFill>
                  <a:srgbClr val="676F74"/>
                </a:solidFill>
                <a:latin typeface="Aptos"/>
              </a:defRPr>
            </a:pPr>
            <a:r>
              <a:t>Example only: assumed method mix and fee rates. Actual rates must come from a written provider quote.</a:t>
            </a:r>
          </a:p>
        </p:txBody>
      </p:sp>
      <p:sp>
        <p:nvSpPr>
          <p:cNvPr id="8" name="Rectangle 7"/>
          <p:cNvSpPr/>
          <p:nvPr/>
        </p:nvSpPr>
        <p:spPr>
          <a:xfrm>
            <a:off x="731520" y="1783080"/>
            <a:ext cx="2057400" cy="438912"/>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874519"/>
            <a:ext cx="1965960" cy="219456"/>
          </a:xfrm>
          <a:prstGeom prst="rect">
            <a:avLst/>
          </a:prstGeom>
          <a:noFill/>
        </p:spPr>
        <p:txBody>
          <a:bodyPr wrap="square" lIns="45720" rIns="45720" anchor="t">
            <a:spAutoFit/>
          </a:bodyPr>
          <a:lstStyle/>
          <a:p>
            <a:pPr algn="ctr">
              <a:defRPr sz="1000" b="1">
                <a:solidFill>
                  <a:srgbClr val="FFFFFF"/>
                </a:solidFill>
                <a:latin typeface="Aptos"/>
              </a:defRPr>
            </a:pPr>
            <a:r>
              <a:t>Method</a:t>
            </a:r>
          </a:p>
        </p:txBody>
      </p:sp>
      <p:sp>
        <p:nvSpPr>
          <p:cNvPr id="10" name="Rectangle 9"/>
          <p:cNvSpPr/>
          <p:nvPr/>
        </p:nvSpPr>
        <p:spPr>
          <a:xfrm>
            <a:off x="2788920" y="1783080"/>
            <a:ext cx="1371600" cy="438912"/>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34639" y="1874519"/>
            <a:ext cx="1280160" cy="219456"/>
          </a:xfrm>
          <a:prstGeom prst="rect">
            <a:avLst/>
          </a:prstGeom>
          <a:noFill/>
        </p:spPr>
        <p:txBody>
          <a:bodyPr wrap="square" lIns="45720" rIns="45720" anchor="t">
            <a:spAutoFit/>
          </a:bodyPr>
          <a:lstStyle/>
          <a:p>
            <a:pPr algn="ctr">
              <a:defRPr sz="1000" b="1">
                <a:solidFill>
                  <a:srgbClr val="FFFFFF"/>
                </a:solidFill>
                <a:latin typeface="Aptos"/>
              </a:defRPr>
            </a:pPr>
            <a:r>
              <a:t>Share</a:t>
            </a:r>
          </a:p>
        </p:txBody>
      </p:sp>
      <p:sp>
        <p:nvSpPr>
          <p:cNvPr id="12" name="Rectangle 11"/>
          <p:cNvSpPr/>
          <p:nvPr/>
        </p:nvSpPr>
        <p:spPr>
          <a:xfrm>
            <a:off x="4160520" y="1783080"/>
            <a:ext cx="1874519" cy="438912"/>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0" y="1874519"/>
            <a:ext cx="1783079" cy="219456"/>
          </a:xfrm>
          <a:prstGeom prst="rect">
            <a:avLst/>
          </a:prstGeom>
          <a:noFill/>
        </p:spPr>
        <p:txBody>
          <a:bodyPr wrap="square" lIns="45720" rIns="45720" anchor="t">
            <a:spAutoFit/>
          </a:bodyPr>
          <a:lstStyle/>
          <a:p>
            <a:pPr algn="ctr">
              <a:defRPr sz="1000" b="1">
                <a:solidFill>
                  <a:srgbClr val="FFFFFF"/>
                </a:solidFill>
                <a:latin typeface="Aptos"/>
              </a:defRPr>
            </a:pPr>
            <a:r>
              <a:t>Monthly value</a:t>
            </a:r>
          </a:p>
        </p:txBody>
      </p:sp>
      <p:sp>
        <p:nvSpPr>
          <p:cNvPr id="14" name="Rectangle 13"/>
          <p:cNvSpPr/>
          <p:nvPr/>
        </p:nvSpPr>
        <p:spPr>
          <a:xfrm>
            <a:off x="6035040" y="1783080"/>
            <a:ext cx="1600200" cy="438912"/>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80759" y="1874519"/>
            <a:ext cx="1508760" cy="219456"/>
          </a:xfrm>
          <a:prstGeom prst="rect">
            <a:avLst/>
          </a:prstGeom>
          <a:noFill/>
        </p:spPr>
        <p:txBody>
          <a:bodyPr wrap="square" lIns="45720" rIns="45720" anchor="t">
            <a:spAutoFit/>
          </a:bodyPr>
          <a:lstStyle/>
          <a:p>
            <a:pPr algn="ctr">
              <a:defRPr sz="1000" b="1">
                <a:solidFill>
                  <a:srgbClr val="FFFFFF"/>
                </a:solidFill>
                <a:latin typeface="Aptos"/>
              </a:defRPr>
            </a:pPr>
            <a:r>
              <a:t>Assumed rate</a:t>
            </a:r>
          </a:p>
        </p:txBody>
      </p:sp>
      <p:sp>
        <p:nvSpPr>
          <p:cNvPr id="16" name="Rectangle 15"/>
          <p:cNvSpPr/>
          <p:nvPr/>
        </p:nvSpPr>
        <p:spPr>
          <a:xfrm>
            <a:off x="7635240" y="1783080"/>
            <a:ext cx="1691640" cy="438912"/>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0" y="1874519"/>
            <a:ext cx="1600200" cy="219456"/>
          </a:xfrm>
          <a:prstGeom prst="rect">
            <a:avLst/>
          </a:prstGeom>
          <a:noFill/>
        </p:spPr>
        <p:txBody>
          <a:bodyPr wrap="square" lIns="45720" rIns="45720" anchor="t">
            <a:spAutoFit/>
          </a:bodyPr>
          <a:lstStyle/>
          <a:p>
            <a:pPr algn="ctr">
              <a:defRPr sz="1000" b="1">
                <a:solidFill>
                  <a:srgbClr val="FFFFFF"/>
                </a:solidFill>
                <a:latin typeface="Aptos"/>
              </a:defRPr>
            </a:pPr>
            <a:r>
              <a:t>Est. fee</a:t>
            </a:r>
          </a:p>
        </p:txBody>
      </p:sp>
      <p:sp>
        <p:nvSpPr>
          <p:cNvPr id="18" name="Rectangle 17"/>
          <p:cNvSpPr/>
          <p:nvPr/>
        </p:nvSpPr>
        <p:spPr>
          <a:xfrm>
            <a:off x="731520" y="2221991"/>
            <a:ext cx="20574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2359151"/>
            <a:ext cx="1965960" cy="228600"/>
          </a:xfrm>
          <a:prstGeom prst="rect">
            <a:avLst/>
          </a:prstGeom>
          <a:noFill/>
        </p:spPr>
        <p:txBody>
          <a:bodyPr wrap="square" lIns="45720" rIns="45720" anchor="t">
            <a:spAutoFit/>
          </a:bodyPr>
          <a:lstStyle/>
          <a:p>
            <a:pPr algn="ctr">
              <a:defRPr sz="1100" b="0">
                <a:solidFill>
                  <a:srgbClr val="262F37"/>
                </a:solidFill>
                <a:latin typeface="Aptos"/>
              </a:defRPr>
            </a:pPr>
            <a:r>
              <a:t>UPI</a:t>
            </a:r>
          </a:p>
        </p:txBody>
      </p:sp>
      <p:sp>
        <p:nvSpPr>
          <p:cNvPr id="20" name="Rectangle 19"/>
          <p:cNvSpPr/>
          <p:nvPr/>
        </p:nvSpPr>
        <p:spPr>
          <a:xfrm>
            <a:off x="2788920" y="2221991"/>
            <a:ext cx="13716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34639" y="2359151"/>
            <a:ext cx="1280160" cy="228600"/>
          </a:xfrm>
          <a:prstGeom prst="rect">
            <a:avLst/>
          </a:prstGeom>
          <a:noFill/>
        </p:spPr>
        <p:txBody>
          <a:bodyPr wrap="square" lIns="45720" rIns="45720" anchor="t">
            <a:spAutoFit/>
          </a:bodyPr>
          <a:lstStyle/>
          <a:p>
            <a:pPr algn="ctr">
              <a:defRPr sz="1100" b="0">
                <a:solidFill>
                  <a:srgbClr val="262F37"/>
                </a:solidFill>
                <a:latin typeface="Aptos"/>
              </a:defRPr>
            </a:pPr>
            <a:r>
              <a:t>55%</a:t>
            </a:r>
          </a:p>
        </p:txBody>
      </p:sp>
      <p:sp>
        <p:nvSpPr>
          <p:cNvPr id="22" name="Rectangle 21"/>
          <p:cNvSpPr/>
          <p:nvPr/>
        </p:nvSpPr>
        <p:spPr>
          <a:xfrm>
            <a:off x="4160520" y="2221991"/>
            <a:ext cx="1874519"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06240" y="2359151"/>
            <a:ext cx="1783079" cy="228600"/>
          </a:xfrm>
          <a:prstGeom prst="rect">
            <a:avLst/>
          </a:prstGeom>
          <a:noFill/>
        </p:spPr>
        <p:txBody>
          <a:bodyPr wrap="square" lIns="45720" rIns="45720" anchor="t">
            <a:spAutoFit/>
          </a:bodyPr>
          <a:lstStyle/>
          <a:p>
            <a:pPr algn="ctr">
              <a:defRPr sz="1100" b="0">
                <a:solidFill>
                  <a:srgbClr val="262F37"/>
                </a:solidFill>
                <a:latin typeface="Aptos"/>
              </a:defRPr>
            </a:pPr>
            <a:r>
              <a:t>₹8,25,000</a:t>
            </a:r>
          </a:p>
        </p:txBody>
      </p:sp>
      <p:sp>
        <p:nvSpPr>
          <p:cNvPr id="24" name="Rectangle 23"/>
          <p:cNvSpPr/>
          <p:nvPr/>
        </p:nvSpPr>
        <p:spPr>
          <a:xfrm>
            <a:off x="6035040" y="2221991"/>
            <a:ext cx="16002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80759" y="2359151"/>
            <a:ext cx="1508760" cy="228600"/>
          </a:xfrm>
          <a:prstGeom prst="rect">
            <a:avLst/>
          </a:prstGeom>
          <a:noFill/>
        </p:spPr>
        <p:txBody>
          <a:bodyPr wrap="square" lIns="45720" rIns="45720" anchor="t">
            <a:spAutoFit/>
          </a:bodyPr>
          <a:lstStyle/>
          <a:p>
            <a:pPr algn="ctr">
              <a:defRPr sz="1100" b="0">
                <a:solidFill>
                  <a:srgbClr val="262F37"/>
                </a:solidFill>
                <a:latin typeface="Aptos"/>
              </a:defRPr>
            </a:pPr>
            <a:r>
              <a:t>0.40%*</a:t>
            </a:r>
          </a:p>
        </p:txBody>
      </p:sp>
      <p:sp>
        <p:nvSpPr>
          <p:cNvPr id="26" name="Rectangle 25"/>
          <p:cNvSpPr/>
          <p:nvPr/>
        </p:nvSpPr>
        <p:spPr>
          <a:xfrm>
            <a:off x="7635240" y="2221991"/>
            <a:ext cx="169164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80960" y="2359151"/>
            <a:ext cx="1600200" cy="228600"/>
          </a:xfrm>
          <a:prstGeom prst="rect">
            <a:avLst/>
          </a:prstGeom>
          <a:noFill/>
        </p:spPr>
        <p:txBody>
          <a:bodyPr wrap="square" lIns="45720" rIns="45720" anchor="t">
            <a:spAutoFit/>
          </a:bodyPr>
          <a:lstStyle/>
          <a:p>
            <a:pPr algn="ctr">
              <a:defRPr sz="1100" b="0">
                <a:solidFill>
                  <a:srgbClr val="262F37"/>
                </a:solidFill>
                <a:latin typeface="Aptos"/>
              </a:defRPr>
            </a:pPr>
            <a:r>
              <a:t>₹3,300</a:t>
            </a:r>
          </a:p>
        </p:txBody>
      </p:sp>
      <p:sp>
        <p:nvSpPr>
          <p:cNvPr id="28" name="Rectangle 27"/>
          <p:cNvSpPr/>
          <p:nvPr/>
        </p:nvSpPr>
        <p:spPr>
          <a:xfrm>
            <a:off x="731520" y="2752344"/>
            <a:ext cx="20574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2889503"/>
            <a:ext cx="1965960" cy="228600"/>
          </a:xfrm>
          <a:prstGeom prst="rect">
            <a:avLst/>
          </a:prstGeom>
          <a:noFill/>
        </p:spPr>
        <p:txBody>
          <a:bodyPr wrap="square" lIns="45720" rIns="45720" anchor="t">
            <a:spAutoFit/>
          </a:bodyPr>
          <a:lstStyle/>
          <a:p>
            <a:pPr algn="ctr">
              <a:defRPr sz="1100" b="0">
                <a:solidFill>
                  <a:srgbClr val="262F37"/>
                </a:solidFill>
                <a:latin typeface="Aptos"/>
              </a:defRPr>
            </a:pPr>
            <a:r>
              <a:t>Cards</a:t>
            </a:r>
          </a:p>
        </p:txBody>
      </p:sp>
      <p:sp>
        <p:nvSpPr>
          <p:cNvPr id="30" name="Rectangle 29"/>
          <p:cNvSpPr/>
          <p:nvPr/>
        </p:nvSpPr>
        <p:spPr>
          <a:xfrm>
            <a:off x="2788920" y="2752344"/>
            <a:ext cx="13716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834639" y="2889503"/>
            <a:ext cx="1280160" cy="228600"/>
          </a:xfrm>
          <a:prstGeom prst="rect">
            <a:avLst/>
          </a:prstGeom>
          <a:noFill/>
        </p:spPr>
        <p:txBody>
          <a:bodyPr wrap="square" lIns="45720" rIns="45720" anchor="t">
            <a:spAutoFit/>
          </a:bodyPr>
          <a:lstStyle/>
          <a:p>
            <a:pPr algn="ctr">
              <a:defRPr sz="1100" b="0">
                <a:solidFill>
                  <a:srgbClr val="262F37"/>
                </a:solidFill>
                <a:latin typeface="Aptos"/>
              </a:defRPr>
            </a:pPr>
            <a:r>
              <a:t>30%</a:t>
            </a:r>
          </a:p>
        </p:txBody>
      </p:sp>
      <p:sp>
        <p:nvSpPr>
          <p:cNvPr id="32" name="Rectangle 31"/>
          <p:cNvSpPr/>
          <p:nvPr/>
        </p:nvSpPr>
        <p:spPr>
          <a:xfrm>
            <a:off x="4160520" y="2752344"/>
            <a:ext cx="1874519"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06240" y="2889503"/>
            <a:ext cx="1783079" cy="228600"/>
          </a:xfrm>
          <a:prstGeom prst="rect">
            <a:avLst/>
          </a:prstGeom>
          <a:noFill/>
        </p:spPr>
        <p:txBody>
          <a:bodyPr wrap="square" lIns="45720" rIns="45720" anchor="t">
            <a:spAutoFit/>
          </a:bodyPr>
          <a:lstStyle/>
          <a:p>
            <a:pPr algn="ctr">
              <a:defRPr sz="1100" b="0">
                <a:solidFill>
                  <a:srgbClr val="262F37"/>
                </a:solidFill>
                <a:latin typeface="Aptos"/>
              </a:defRPr>
            </a:pPr>
            <a:r>
              <a:t>₹4,50,000</a:t>
            </a:r>
          </a:p>
        </p:txBody>
      </p:sp>
      <p:sp>
        <p:nvSpPr>
          <p:cNvPr id="34" name="Rectangle 33"/>
          <p:cNvSpPr/>
          <p:nvPr/>
        </p:nvSpPr>
        <p:spPr>
          <a:xfrm>
            <a:off x="6035040" y="2752344"/>
            <a:ext cx="16002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80759" y="2889503"/>
            <a:ext cx="1508760" cy="228600"/>
          </a:xfrm>
          <a:prstGeom prst="rect">
            <a:avLst/>
          </a:prstGeom>
          <a:noFill/>
        </p:spPr>
        <p:txBody>
          <a:bodyPr wrap="square" lIns="45720" rIns="45720" anchor="t">
            <a:spAutoFit/>
          </a:bodyPr>
          <a:lstStyle/>
          <a:p>
            <a:pPr algn="ctr">
              <a:defRPr sz="1100" b="0">
                <a:solidFill>
                  <a:srgbClr val="262F37"/>
                </a:solidFill>
                <a:latin typeface="Aptos"/>
              </a:defRPr>
            </a:pPr>
            <a:r>
              <a:t>1.80%</a:t>
            </a:r>
          </a:p>
        </p:txBody>
      </p:sp>
      <p:sp>
        <p:nvSpPr>
          <p:cNvPr id="36" name="Rectangle 35"/>
          <p:cNvSpPr/>
          <p:nvPr/>
        </p:nvSpPr>
        <p:spPr>
          <a:xfrm>
            <a:off x="7635240" y="2752344"/>
            <a:ext cx="169164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80960" y="2889503"/>
            <a:ext cx="1600200" cy="228600"/>
          </a:xfrm>
          <a:prstGeom prst="rect">
            <a:avLst/>
          </a:prstGeom>
          <a:noFill/>
        </p:spPr>
        <p:txBody>
          <a:bodyPr wrap="square" lIns="45720" rIns="45720" anchor="t">
            <a:spAutoFit/>
          </a:bodyPr>
          <a:lstStyle/>
          <a:p>
            <a:pPr algn="ctr">
              <a:defRPr sz="1100" b="0">
                <a:solidFill>
                  <a:srgbClr val="262F37"/>
                </a:solidFill>
                <a:latin typeface="Aptos"/>
              </a:defRPr>
            </a:pPr>
            <a:r>
              <a:t>₹8,100</a:t>
            </a:r>
          </a:p>
        </p:txBody>
      </p:sp>
      <p:sp>
        <p:nvSpPr>
          <p:cNvPr id="38" name="Rectangle 37"/>
          <p:cNvSpPr/>
          <p:nvPr/>
        </p:nvSpPr>
        <p:spPr>
          <a:xfrm>
            <a:off x="731520" y="3282696"/>
            <a:ext cx="20574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 y="3419856"/>
            <a:ext cx="1965960" cy="228600"/>
          </a:xfrm>
          <a:prstGeom prst="rect">
            <a:avLst/>
          </a:prstGeom>
          <a:noFill/>
        </p:spPr>
        <p:txBody>
          <a:bodyPr wrap="square" lIns="45720" rIns="45720" anchor="t">
            <a:spAutoFit/>
          </a:bodyPr>
          <a:lstStyle/>
          <a:p>
            <a:pPr algn="ctr">
              <a:defRPr sz="1100" b="0">
                <a:solidFill>
                  <a:srgbClr val="262F37"/>
                </a:solidFill>
                <a:latin typeface="Aptos"/>
              </a:defRPr>
            </a:pPr>
            <a:r>
              <a:t>Netbanking</a:t>
            </a:r>
          </a:p>
        </p:txBody>
      </p:sp>
      <p:sp>
        <p:nvSpPr>
          <p:cNvPr id="40" name="Rectangle 39"/>
          <p:cNvSpPr/>
          <p:nvPr/>
        </p:nvSpPr>
        <p:spPr>
          <a:xfrm>
            <a:off x="2788920" y="3282696"/>
            <a:ext cx="13716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834639" y="3419856"/>
            <a:ext cx="1280160" cy="228600"/>
          </a:xfrm>
          <a:prstGeom prst="rect">
            <a:avLst/>
          </a:prstGeom>
          <a:noFill/>
        </p:spPr>
        <p:txBody>
          <a:bodyPr wrap="square" lIns="45720" rIns="45720" anchor="t">
            <a:spAutoFit/>
          </a:bodyPr>
          <a:lstStyle/>
          <a:p>
            <a:pPr algn="ctr">
              <a:defRPr sz="1100" b="0">
                <a:solidFill>
                  <a:srgbClr val="262F37"/>
                </a:solidFill>
                <a:latin typeface="Aptos"/>
              </a:defRPr>
            </a:pPr>
            <a:r>
              <a:t>10%</a:t>
            </a:r>
          </a:p>
        </p:txBody>
      </p:sp>
      <p:sp>
        <p:nvSpPr>
          <p:cNvPr id="42" name="Rectangle 41"/>
          <p:cNvSpPr/>
          <p:nvPr/>
        </p:nvSpPr>
        <p:spPr>
          <a:xfrm>
            <a:off x="4160520" y="3282696"/>
            <a:ext cx="1874519"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206240" y="3419856"/>
            <a:ext cx="1783079" cy="228600"/>
          </a:xfrm>
          <a:prstGeom prst="rect">
            <a:avLst/>
          </a:prstGeom>
          <a:noFill/>
        </p:spPr>
        <p:txBody>
          <a:bodyPr wrap="square" lIns="45720" rIns="45720" anchor="t">
            <a:spAutoFit/>
          </a:bodyPr>
          <a:lstStyle/>
          <a:p>
            <a:pPr algn="ctr">
              <a:defRPr sz="1100" b="0">
                <a:solidFill>
                  <a:srgbClr val="262F37"/>
                </a:solidFill>
                <a:latin typeface="Aptos"/>
              </a:defRPr>
            </a:pPr>
            <a:r>
              <a:t>₹1,50,000</a:t>
            </a:r>
          </a:p>
        </p:txBody>
      </p:sp>
      <p:sp>
        <p:nvSpPr>
          <p:cNvPr id="44" name="Rectangle 43"/>
          <p:cNvSpPr/>
          <p:nvPr/>
        </p:nvSpPr>
        <p:spPr>
          <a:xfrm>
            <a:off x="6035040" y="3282696"/>
            <a:ext cx="16002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080759" y="3419856"/>
            <a:ext cx="1508760" cy="228600"/>
          </a:xfrm>
          <a:prstGeom prst="rect">
            <a:avLst/>
          </a:prstGeom>
          <a:noFill/>
        </p:spPr>
        <p:txBody>
          <a:bodyPr wrap="square" lIns="45720" rIns="45720" anchor="t">
            <a:spAutoFit/>
          </a:bodyPr>
          <a:lstStyle/>
          <a:p>
            <a:pPr algn="ctr">
              <a:defRPr sz="1100" b="0">
                <a:solidFill>
                  <a:srgbClr val="262F37"/>
                </a:solidFill>
                <a:latin typeface="Aptos"/>
              </a:defRPr>
            </a:pPr>
            <a:r>
              <a:t>1.50%</a:t>
            </a:r>
          </a:p>
        </p:txBody>
      </p:sp>
      <p:sp>
        <p:nvSpPr>
          <p:cNvPr id="46" name="Rectangle 45"/>
          <p:cNvSpPr/>
          <p:nvPr/>
        </p:nvSpPr>
        <p:spPr>
          <a:xfrm>
            <a:off x="7635240" y="3282696"/>
            <a:ext cx="169164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680960" y="3419856"/>
            <a:ext cx="1600200" cy="228600"/>
          </a:xfrm>
          <a:prstGeom prst="rect">
            <a:avLst/>
          </a:prstGeom>
          <a:noFill/>
        </p:spPr>
        <p:txBody>
          <a:bodyPr wrap="square" lIns="45720" rIns="45720" anchor="t">
            <a:spAutoFit/>
          </a:bodyPr>
          <a:lstStyle/>
          <a:p>
            <a:pPr algn="ctr">
              <a:defRPr sz="1100" b="0">
                <a:solidFill>
                  <a:srgbClr val="262F37"/>
                </a:solidFill>
                <a:latin typeface="Aptos"/>
              </a:defRPr>
            </a:pPr>
            <a:r>
              <a:t>₹2,250</a:t>
            </a:r>
          </a:p>
        </p:txBody>
      </p:sp>
      <p:sp>
        <p:nvSpPr>
          <p:cNvPr id="48" name="Rectangle 47"/>
          <p:cNvSpPr/>
          <p:nvPr/>
        </p:nvSpPr>
        <p:spPr>
          <a:xfrm>
            <a:off x="731520" y="3813048"/>
            <a:ext cx="20574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7240" y="3950208"/>
            <a:ext cx="1965960" cy="228600"/>
          </a:xfrm>
          <a:prstGeom prst="rect">
            <a:avLst/>
          </a:prstGeom>
          <a:noFill/>
        </p:spPr>
        <p:txBody>
          <a:bodyPr wrap="square" lIns="45720" rIns="45720" anchor="t">
            <a:spAutoFit/>
          </a:bodyPr>
          <a:lstStyle/>
          <a:p>
            <a:pPr algn="ctr">
              <a:defRPr sz="1100" b="0">
                <a:solidFill>
                  <a:srgbClr val="262F37"/>
                </a:solidFill>
                <a:latin typeface="Aptos"/>
              </a:defRPr>
            </a:pPr>
            <a:r>
              <a:t>Wallets</a:t>
            </a:r>
          </a:p>
        </p:txBody>
      </p:sp>
      <p:sp>
        <p:nvSpPr>
          <p:cNvPr id="50" name="Rectangle 49"/>
          <p:cNvSpPr/>
          <p:nvPr/>
        </p:nvSpPr>
        <p:spPr>
          <a:xfrm>
            <a:off x="2788920" y="3813048"/>
            <a:ext cx="13716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834639" y="3950208"/>
            <a:ext cx="1280160" cy="228600"/>
          </a:xfrm>
          <a:prstGeom prst="rect">
            <a:avLst/>
          </a:prstGeom>
          <a:noFill/>
        </p:spPr>
        <p:txBody>
          <a:bodyPr wrap="square" lIns="45720" rIns="45720" anchor="t">
            <a:spAutoFit/>
          </a:bodyPr>
          <a:lstStyle/>
          <a:p>
            <a:pPr algn="ctr">
              <a:defRPr sz="1100" b="0">
                <a:solidFill>
                  <a:srgbClr val="262F37"/>
                </a:solidFill>
                <a:latin typeface="Aptos"/>
              </a:defRPr>
            </a:pPr>
            <a:r>
              <a:t>5%</a:t>
            </a:r>
          </a:p>
        </p:txBody>
      </p:sp>
      <p:sp>
        <p:nvSpPr>
          <p:cNvPr id="52" name="Rectangle 51"/>
          <p:cNvSpPr/>
          <p:nvPr/>
        </p:nvSpPr>
        <p:spPr>
          <a:xfrm>
            <a:off x="4160520" y="3813048"/>
            <a:ext cx="1874519"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206240" y="3950208"/>
            <a:ext cx="1783079" cy="228600"/>
          </a:xfrm>
          <a:prstGeom prst="rect">
            <a:avLst/>
          </a:prstGeom>
          <a:noFill/>
        </p:spPr>
        <p:txBody>
          <a:bodyPr wrap="square" lIns="45720" rIns="45720" anchor="t">
            <a:spAutoFit/>
          </a:bodyPr>
          <a:lstStyle/>
          <a:p>
            <a:pPr algn="ctr">
              <a:defRPr sz="1100" b="0">
                <a:solidFill>
                  <a:srgbClr val="262F37"/>
                </a:solidFill>
                <a:latin typeface="Aptos"/>
              </a:defRPr>
            </a:pPr>
            <a:r>
              <a:t>₹75,000</a:t>
            </a:r>
          </a:p>
        </p:txBody>
      </p:sp>
      <p:sp>
        <p:nvSpPr>
          <p:cNvPr id="54" name="Rectangle 53"/>
          <p:cNvSpPr/>
          <p:nvPr/>
        </p:nvSpPr>
        <p:spPr>
          <a:xfrm>
            <a:off x="6035040" y="3813048"/>
            <a:ext cx="160020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080759" y="3950208"/>
            <a:ext cx="1508760" cy="228600"/>
          </a:xfrm>
          <a:prstGeom prst="rect">
            <a:avLst/>
          </a:prstGeom>
          <a:noFill/>
        </p:spPr>
        <p:txBody>
          <a:bodyPr wrap="square" lIns="45720" rIns="45720" anchor="t">
            <a:spAutoFit/>
          </a:bodyPr>
          <a:lstStyle/>
          <a:p>
            <a:pPr algn="ctr">
              <a:defRPr sz="1100" b="0">
                <a:solidFill>
                  <a:srgbClr val="262F37"/>
                </a:solidFill>
                <a:latin typeface="Aptos"/>
              </a:defRPr>
            </a:pPr>
            <a:r>
              <a:t>1.80%</a:t>
            </a:r>
          </a:p>
        </p:txBody>
      </p:sp>
      <p:sp>
        <p:nvSpPr>
          <p:cNvPr id="56" name="Rectangle 55"/>
          <p:cNvSpPr/>
          <p:nvPr/>
        </p:nvSpPr>
        <p:spPr>
          <a:xfrm>
            <a:off x="7635240" y="3813048"/>
            <a:ext cx="1691640" cy="530352"/>
          </a:xfrm>
          <a:prstGeom prst="rect">
            <a:avLst/>
          </a:prstGeom>
          <a:solidFill>
            <a:srgbClr val="FFFFFF"/>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680960" y="3950208"/>
            <a:ext cx="1600200" cy="228600"/>
          </a:xfrm>
          <a:prstGeom prst="rect">
            <a:avLst/>
          </a:prstGeom>
          <a:noFill/>
        </p:spPr>
        <p:txBody>
          <a:bodyPr wrap="square" lIns="45720" rIns="45720" anchor="t">
            <a:spAutoFit/>
          </a:bodyPr>
          <a:lstStyle/>
          <a:p>
            <a:pPr algn="ctr">
              <a:defRPr sz="1100" b="0">
                <a:solidFill>
                  <a:srgbClr val="262F37"/>
                </a:solidFill>
                <a:latin typeface="Aptos"/>
              </a:defRPr>
            </a:pPr>
            <a:r>
              <a:t>₹1,350</a:t>
            </a:r>
          </a:p>
        </p:txBody>
      </p:sp>
      <p:sp>
        <p:nvSpPr>
          <p:cNvPr id="58" name="Rectangle 57"/>
          <p:cNvSpPr/>
          <p:nvPr/>
        </p:nvSpPr>
        <p:spPr>
          <a:xfrm>
            <a:off x="731520" y="4343400"/>
            <a:ext cx="2057400" cy="530352"/>
          </a:xfrm>
          <a:prstGeom prst="rect">
            <a:avLst/>
          </a:prstGeom>
          <a:solidFill>
            <a:srgbClr val="F2EBDE"/>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77240" y="4480560"/>
            <a:ext cx="1965960" cy="228600"/>
          </a:xfrm>
          <a:prstGeom prst="rect">
            <a:avLst/>
          </a:prstGeom>
          <a:noFill/>
        </p:spPr>
        <p:txBody>
          <a:bodyPr wrap="square" lIns="45720" rIns="45720" anchor="t">
            <a:spAutoFit/>
          </a:bodyPr>
          <a:lstStyle/>
          <a:p>
            <a:pPr algn="ctr">
              <a:defRPr sz="1100" b="1">
                <a:solidFill>
                  <a:srgbClr val="262F37"/>
                </a:solidFill>
                <a:latin typeface="Aptos"/>
              </a:defRPr>
            </a:pPr>
            <a:r>
              <a:t>TOTAL</a:t>
            </a:r>
          </a:p>
        </p:txBody>
      </p:sp>
      <p:sp>
        <p:nvSpPr>
          <p:cNvPr id="60" name="Rectangle 59"/>
          <p:cNvSpPr/>
          <p:nvPr/>
        </p:nvSpPr>
        <p:spPr>
          <a:xfrm>
            <a:off x="2788920" y="4343400"/>
            <a:ext cx="1371600" cy="530352"/>
          </a:xfrm>
          <a:prstGeom prst="rect">
            <a:avLst/>
          </a:prstGeom>
          <a:solidFill>
            <a:srgbClr val="F2EBDE"/>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834639" y="4480560"/>
            <a:ext cx="1280160" cy="228600"/>
          </a:xfrm>
          <a:prstGeom prst="rect">
            <a:avLst/>
          </a:prstGeom>
          <a:noFill/>
        </p:spPr>
        <p:txBody>
          <a:bodyPr wrap="square" lIns="45720" rIns="45720" anchor="t">
            <a:spAutoFit/>
          </a:bodyPr>
          <a:lstStyle/>
          <a:p>
            <a:pPr algn="ctr">
              <a:defRPr sz="1100" b="1">
                <a:solidFill>
                  <a:srgbClr val="262F37"/>
                </a:solidFill>
                <a:latin typeface="Aptos"/>
              </a:defRPr>
            </a:pPr>
            <a:r>
              <a:t>100%</a:t>
            </a:r>
          </a:p>
        </p:txBody>
      </p:sp>
      <p:sp>
        <p:nvSpPr>
          <p:cNvPr id="62" name="Rectangle 61"/>
          <p:cNvSpPr/>
          <p:nvPr/>
        </p:nvSpPr>
        <p:spPr>
          <a:xfrm>
            <a:off x="4160520" y="4343400"/>
            <a:ext cx="1874519" cy="530352"/>
          </a:xfrm>
          <a:prstGeom prst="rect">
            <a:avLst/>
          </a:prstGeom>
          <a:solidFill>
            <a:srgbClr val="F2EBDE"/>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206240" y="4480560"/>
            <a:ext cx="1783079" cy="228600"/>
          </a:xfrm>
          <a:prstGeom prst="rect">
            <a:avLst/>
          </a:prstGeom>
          <a:noFill/>
        </p:spPr>
        <p:txBody>
          <a:bodyPr wrap="square" lIns="45720" rIns="45720" anchor="t">
            <a:spAutoFit/>
          </a:bodyPr>
          <a:lstStyle/>
          <a:p>
            <a:pPr algn="ctr">
              <a:defRPr sz="1100" b="1">
                <a:solidFill>
                  <a:srgbClr val="262F37"/>
                </a:solidFill>
                <a:latin typeface="Aptos"/>
              </a:defRPr>
            </a:pPr>
            <a:r>
              <a:t>₹15,00,000</a:t>
            </a:r>
          </a:p>
        </p:txBody>
      </p:sp>
      <p:sp>
        <p:nvSpPr>
          <p:cNvPr id="64" name="Rectangle 63"/>
          <p:cNvSpPr/>
          <p:nvPr/>
        </p:nvSpPr>
        <p:spPr>
          <a:xfrm>
            <a:off x="6035040" y="4343400"/>
            <a:ext cx="1600200" cy="530352"/>
          </a:xfrm>
          <a:prstGeom prst="rect">
            <a:avLst/>
          </a:prstGeom>
          <a:solidFill>
            <a:srgbClr val="F2EBDE"/>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080759" y="4480560"/>
            <a:ext cx="1508760" cy="228600"/>
          </a:xfrm>
          <a:prstGeom prst="rect">
            <a:avLst/>
          </a:prstGeom>
          <a:noFill/>
        </p:spPr>
        <p:txBody>
          <a:bodyPr wrap="square" lIns="45720" rIns="45720" anchor="t">
            <a:spAutoFit/>
          </a:bodyPr>
          <a:lstStyle/>
          <a:p>
            <a:pPr algn="ctr">
              <a:defRPr sz="1100" b="1">
                <a:solidFill>
                  <a:srgbClr val="262F37"/>
                </a:solidFill>
                <a:latin typeface="Aptos"/>
              </a:defRPr>
            </a:pPr>
            <a:r>
              <a:t>1.00% blended</a:t>
            </a:r>
          </a:p>
        </p:txBody>
      </p:sp>
      <p:sp>
        <p:nvSpPr>
          <p:cNvPr id="66" name="Rectangle 65"/>
          <p:cNvSpPr/>
          <p:nvPr/>
        </p:nvSpPr>
        <p:spPr>
          <a:xfrm>
            <a:off x="7635240" y="4343400"/>
            <a:ext cx="1691640" cy="530352"/>
          </a:xfrm>
          <a:prstGeom prst="rect">
            <a:avLst/>
          </a:prstGeom>
          <a:solidFill>
            <a:srgbClr val="F2EBDE"/>
          </a:solidFill>
          <a:ln>
            <a:solidFill>
              <a:srgbClr val="E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680960" y="4480560"/>
            <a:ext cx="1600200" cy="228600"/>
          </a:xfrm>
          <a:prstGeom prst="rect">
            <a:avLst/>
          </a:prstGeom>
          <a:noFill/>
        </p:spPr>
        <p:txBody>
          <a:bodyPr wrap="square" lIns="45720" rIns="45720" anchor="t">
            <a:spAutoFit/>
          </a:bodyPr>
          <a:lstStyle/>
          <a:p>
            <a:pPr algn="ctr">
              <a:defRPr sz="1100" b="1">
                <a:solidFill>
                  <a:srgbClr val="262F37"/>
                </a:solidFill>
                <a:latin typeface="Aptos"/>
              </a:defRPr>
            </a:pPr>
            <a:r>
              <a:t>₹15,000</a:t>
            </a:r>
          </a:p>
        </p:txBody>
      </p:sp>
      <p:sp>
        <p:nvSpPr>
          <p:cNvPr id="68" name="TextBox 67"/>
          <p:cNvSpPr txBox="1"/>
          <p:nvPr/>
        </p:nvSpPr>
        <p:spPr>
          <a:xfrm>
            <a:off x="777240" y="5074920"/>
            <a:ext cx="10515600" cy="320040"/>
          </a:xfrm>
          <a:prstGeom prst="rect">
            <a:avLst/>
          </a:prstGeom>
          <a:noFill/>
        </p:spPr>
        <p:txBody>
          <a:bodyPr wrap="square" lIns="45720" rIns="45720" anchor="t">
            <a:spAutoFit/>
          </a:bodyPr>
          <a:lstStyle/>
          <a:p>
            <a:pPr>
              <a:defRPr sz="1400" b="1">
                <a:solidFill>
                  <a:srgbClr val="262F37"/>
                </a:solidFill>
                <a:latin typeface="Aptos"/>
              </a:defRPr>
            </a:pPr>
            <a:r>
              <a:t>Estimated fees: ₹15,000/month before GST; about ₹17,700 including 18% GST on those fees.</a:t>
            </a:r>
          </a:p>
        </p:txBody>
      </p:sp>
      <p:sp>
        <p:nvSpPr>
          <p:cNvPr id="69" name="TextBox 68"/>
          <p:cNvSpPr txBox="1"/>
          <p:nvPr/>
        </p:nvSpPr>
        <p:spPr>
          <a:xfrm>
            <a:off x="777240" y="5532120"/>
            <a:ext cx="10607040" cy="502920"/>
          </a:xfrm>
          <a:prstGeom prst="rect">
            <a:avLst/>
          </a:prstGeom>
          <a:noFill/>
        </p:spPr>
        <p:txBody>
          <a:bodyPr wrap="square" lIns="45720" rIns="45720" anchor="t">
            <a:spAutoFit/>
          </a:bodyPr>
          <a:lstStyle/>
          <a:p>
            <a:pPr>
              <a:defRPr sz="1100" b="0">
                <a:solidFill>
                  <a:srgbClr val="676F74"/>
                </a:solidFill>
                <a:latin typeface="Aptos"/>
              </a:defRPr>
            </a:pPr>
            <a:r>
              <a:t>*UPI is commonly zero-MDR for bank-account payments, but a provider may charge a separate service/platform fee. Confirm the exact treatment.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A small fee difference can matter</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08</a:t>
            </a:r>
          </a:p>
        </p:txBody>
      </p:sp>
      <p:sp>
        <p:nvSpPr>
          <p:cNvPr id="7" name="TextBox 6"/>
          <p:cNvSpPr txBox="1"/>
          <p:nvPr/>
        </p:nvSpPr>
        <p:spPr>
          <a:xfrm>
            <a:off x="777240" y="1554480"/>
            <a:ext cx="5303520" cy="365760"/>
          </a:xfrm>
          <a:prstGeom prst="rect">
            <a:avLst/>
          </a:prstGeom>
          <a:noFill/>
        </p:spPr>
        <p:txBody>
          <a:bodyPr wrap="square" lIns="45720" rIns="45720" anchor="t">
            <a:spAutoFit/>
          </a:bodyPr>
          <a:lstStyle/>
          <a:p>
            <a:pPr>
              <a:defRPr sz="1800" b="1">
                <a:solidFill>
                  <a:srgbClr val="262F37"/>
                </a:solidFill>
                <a:latin typeface="Aptos"/>
              </a:defRPr>
            </a:pPr>
            <a:r>
              <a:t>Monthly fee at ₹15 lakh sales</a:t>
            </a:r>
          </a:p>
        </p:txBody>
      </p:sp>
      <p:sp>
        <p:nvSpPr>
          <p:cNvPr id="8" name="TextBox 7"/>
          <p:cNvSpPr txBox="1"/>
          <p:nvPr/>
        </p:nvSpPr>
        <p:spPr>
          <a:xfrm>
            <a:off x="822960" y="2194560"/>
            <a:ext cx="1828800" cy="274320"/>
          </a:xfrm>
          <a:prstGeom prst="rect">
            <a:avLst/>
          </a:prstGeom>
          <a:noFill/>
        </p:spPr>
        <p:txBody>
          <a:bodyPr wrap="square" lIns="45720" rIns="45720" anchor="t">
            <a:spAutoFit/>
          </a:bodyPr>
          <a:lstStyle/>
          <a:p>
            <a:pPr>
              <a:defRPr sz="1300" b="1">
                <a:solidFill>
                  <a:srgbClr val="262F37"/>
                </a:solidFill>
                <a:latin typeface="Aptos"/>
              </a:defRPr>
            </a:pPr>
            <a:r>
              <a:t>0.75% blended</a:t>
            </a:r>
          </a:p>
        </p:txBody>
      </p:sp>
      <p:sp>
        <p:nvSpPr>
          <p:cNvPr id="9" name="Rounded Rectangle 8"/>
          <p:cNvSpPr/>
          <p:nvPr/>
        </p:nvSpPr>
        <p:spPr>
          <a:xfrm>
            <a:off x="2788920" y="2194560"/>
            <a:ext cx="1783080" cy="292608"/>
          </a:xfrm>
          <a:prstGeom prst="roundRect">
            <a:avLst>
              <a:gd name="adj" fmla="val 8000"/>
            </a:avLst>
          </a:prstGeom>
          <a:solidFill>
            <a:srgbClr val="487058"/>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0" y="2167128"/>
            <a:ext cx="1371600" cy="320040"/>
          </a:xfrm>
          <a:prstGeom prst="rect">
            <a:avLst/>
          </a:prstGeom>
          <a:noFill/>
        </p:spPr>
        <p:txBody>
          <a:bodyPr wrap="square" lIns="45720" rIns="45720" anchor="t">
            <a:spAutoFit/>
          </a:bodyPr>
          <a:lstStyle/>
          <a:p>
            <a:pPr>
              <a:defRPr sz="1400" b="1">
                <a:solidFill>
                  <a:srgbClr val="262F37"/>
                </a:solidFill>
                <a:latin typeface="Aptos"/>
              </a:defRPr>
            </a:pPr>
            <a:r>
              <a:t>₹11,250</a:t>
            </a:r>
          </a:p>
        </p:txBody>
      </p:sp>
      <p:sp>
        <p:nvSpPr>
          <p:cNvPr id="11" name="TextBox 10"/>
          <p:cNvSpPr txBox="1"/>
          <p:nvPr/>
        </p:nvSpPr>
        <p:spPr>
          <a:xfrm>
            <a:off x="822960" y="3017520"/>
            <a:ext cx="1828800" cy="274320"/>
          </a:xfrm>
          <a:prstGeom prst="rect">
            <a:avLst/>
          </a:prstGeom>
          <a:noFill/>
        </p:spPr>
        <p:txBody>
          <a:bodyPr wrap="square" lIns="45720" rIns="45720" anchor="t">
            <a:spAutoFit/>
          </a:bodyPr>
          <a:lstStyle/>
          <a:p>
            <a:pPr>
              <a:defRPr sz="1300" b="1">
                <a:solidFill>
                  <a:srgbClr val="262F37"/>
                </a:solidFill>
                <a:latin typeface="Aptos"/>
              </a:defRPr>
            </a:pPr>
            <a:r>
              <a:t>1.00% blended</a:t>
            </a:r>
          </a:p>
        </p:txBody>
      </p:sp>
      <p:sp>
        <p:nvSpPr>
          <p:cNvPr id="12" name="Rounded Rectangle 11"/>
          <p:cNvSpPr/>
          <p:nvPr/>
        </p:nvSpPr>
        <p:spPr>
          <a:xfrm>
            <a:off x="2788920" y="3017520"/>
            <a:ext cx="2377440" cy="292608"/>
          </a:xfrm>
          <a:prstGeom prst="roundRect">
            <a:avLst>
              <a:gd name="adj" fmla="val 8000"/>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0" y="2990088"/>
            <a:ext cx="1371600" cy="320040"/>
          </a:xfrm>
          <a:prstGeom prst="rect">
            <a:avLst/>
          </a:prstGeom>
          <a:noFill/>
        </p:spPr>
        <p:txBody>
          <a:bodyPr wrap="square" lIns="45720" rIns="45720" anchor="t">
            <a:spAutoFit/>
          </a:bodyPr>
          <a:lstStyle/>
          <a:p>
            <a:pPr>
              <a:defRPr sz="1400" b="1">
                <a:solidFill>
                  <a:srgbClr val="262F37"/>
                </a:solidFill>
                <a:latin typeface="Aptos"/>
              </a:defRPr>
            </a:pPr>
            <a:r>
              <a:t>₹15,000</a:t>
            </a:r>
          </a:p>
        </p:txBody>
      </p:sp>
      <p:sp>
        <p:nvSpPr>
          <p:cNvPr id="14" name="TextBox 13"/>
          <p:cNvSpPr txBox="1"/>
          <p:nvPr/>
        </p:nvSpPr>
        <p:spPr>
          <a:xfrm>
            <a:off x="822960" y="3840480"/>
            <a:ext cx="1828800" cy="274320"/>
          </a:xfrm>
          <a:prstGeom prst="rect">
            <a:avLst/>
          </a:prstGeom>
          <a:noFill/>
        </p:spPr>
        <p:txBody>
          <a:bodyPr wrap="square" lIns="45720" rIns="45720" anchor="t">
            <a:spAutoFit/>
          </a:bodyPr>
          <a:lstStyle/>
          <a:p>
            <a:pPr>
              <a:defRPr sz="1300" b="1">
                <a:solidFill>
                  <a:srgbClr val="262F37"/>
                </a:solidFill>
                <a:latin typeface="Aptos"/>
              </a:defRPr>
            </a:pPr>
            <a:r>
              <a:t>1.25% blended</a:t>
            </a:r>
          </a:p>
        </p:txBody>
      </p:sp>
      <p:sp>
        <p:nvSpPr>
          <p:cNvPr id="15" name="Rounded Rectangle 14"/>
          <p:cNvSpPr/>
          <p:nvPr/>
        </p:nvSpPr>
        <p:spPr>
          <a:xfrm>
            <a:off x="2788920" y="3840480"/>
            <a:ext cx="2971800" cy="292608"/>
          </a:xfrm>
          <a:prstGeom prst="roundRect">
            <a:avLst>
              <a:gd name="adj" fmla="val 8000"/>
            </a:avLst>
          </a:prstGeom>
          <a:solidFill>
            <a:srgbClr val="974B41"/>
          </a:solidFill>
          <a:ln>
            <a:solidFill>
              <a:srgbClr val="974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0" y="3813048"/>
            <a:ext cx="1371600" cy="320040"/>
          </a:xfrm>
          <a:prstGeom prst="rect">
            <a:avLst/>
          </a:prstGeom>
          <a:noFill/>
        </p:spPr>
        <p:txBody>
          <a:bodyPr wrap="square" lIns="45720" rIns="45720" anchor="t">
            <a:spAutoFit/>
          </a:bodyPr>
          <a:lstStyle/>
          <a:p>
            <a:pPr>
              <a:defRPr sz="1400" b="1">
                <a:solidFill>
                  <a:srgbClr val="262F37"/>
                </a:solidFill>
                <a:latin typeface="Aptos"/>
              </a:defRPr>
            </a:pPr>
            <a:r>
              <a:t>₹18,750</a:t>
            </a:r>
          </a:p>
        </p:txBody>
      </p:sp>
      <p:sp>
        <p:nvSpPr>
          <p:cNvPr id="17" name="Rounded Rectangle 16"/>
          <p:cNvSpPr/>
          <p:nvPr/>
        </p:nvSpPr>
        <p:spPr>
          <a:xfrm>
            <a:off x="7543800" y="1600200"/>
            <a:ext cx="3794760" cy="3474720"/>
          </a:xfrm>
          <a:prstGeom prst="roundRect">
            <a:avLst>
              <a:gd name="adj" fmla="val 8000"/>
            </a:avLst>
          </a:prstGeom>
          <a:solidFill>
            <a:srgbClr val="FFFFFF"/>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18120" y="1874519"/>
            <a:ext cx="3246120" cy="320040"/>
          </a:xfrm>
          <a:prstGeom prst="rect">
            <a:avLst/>
          </a:prstGeom>
          <a:noFill/>
        </p:spPr>
        <p:txBody>
          <a:bodyPr wrap="square" lIns="45720" rIns="45720" anchor="t">
            <a:spAutoFit/>
          </a:bodyPr>
          <a:lstStyle/>
          <a:p>
            <a:pPr>
              <a:defRPr sz="1500" b="1">
                <a:solidFill>
                  <a:srgbClr val="4A6F87"/>
                </a:solidFill>
                <a:latin typeface="Aptos"/>
              </a:defRPr>
            </a:pPr>
            <a:r>
              <a:t>Questions for providers</a:t>
            </a:r>
          </a:p>
        </p:txBody>
      </p:sp>
      <p:sp>
        <p:nvSpPr>
          <p:cNvPr id="19" name="TextBox 18"/>
          <p:cNvSpPr txBox="1"/>
          <p:nvPr/>
        </p:nvSpPr>
        <p:spPr>
          <a:xfrm>
            <a:off x="7818120" y="2331720"/>
            <a:ext cx="3154680" cy="2331720"/>
          </a:xfrm>
          <a:prstGeom prst="rect">
            <a:avLst/>
          </a:prstGeom>
          <a:noFill/>
        </p:spPr>
        <p:txBody>
          <a:bodyPr wrap="square" lIns="45720" tIns="18288" rIns="45720" bIns="18288">
            <a:spAutoFit/>
          </a:bodyPr>
          <a:lstStyle/>
          <a:p>
            <a:pPr>
              <a:spcAft>
                <a:spcPts val="800"/>
              </a:spcAft>
              <a:defRPr sz="1200">
                <a:solidFill>
                  <a:srgbClr val="262F37"/>
                </a:solidFill>
                <a:latin typeface="Aptos"/>
              </a:defRPr>
            </a:pPr>
            <a:r>
              <a:t>•  Are rates different by payment method?</a:t>
            </a:r>
          </a:p>
          <a:p>
            <a:pPr>
              <a:spcAft>
                <a:spcPts val="800"/>
              </a:spcAft>
              <a:defRPr sz="1200">
                <a:solidFill>
                  <a:srgbClr val="262F37"/>
                </a:solidFill>
                <a:latin typeface="Aptos"/>
              </a:defRPr>
            </a:pPr>
            <a:r>
              <a:t>•  Are setup or annual fees charged?</a:t>
            </a:r>
          </a:p>
          <a:p>
            <a:pPr>
              <a:spcAft>
                <a:spcPts val="800"/>
              </a:spcAft>
              <a:defRPr sz="1200">
                <a:solidFill>
                  <a:srgbClr val="262F37"/>
                </a:solidFill>
                <a:latin typeface="Aptos"/>
              </a:defRPr>
            </a:pPr>
            <a:r>
              <a:t>•  What is the settlement cycle?</a:t>
            </a:r>
          </a:p>
          <a:p>
            <a:pPr>
              <a:spcAft>
                <a:spcPts val="800"/>
              </a:spcAft>
              <a:defRPr sz="1200">
                <a:solidFill>
                  <a:srgbClr val="262F37"/>
                </a:solidFill>
                <a:latin typeface="Aptos"/>
              </a:defRPr>
            </a:pPr>
            <a:r>
              <a:t>•  What are refund and dispute fees?</a:t>
            </a:r>
          </a:p>
          <a:p>
            <a:pPr>
              <a:spcAft>
                <a:spcPts val="800"/>
              </a:spcAft>
              <a:defRPr sz="1200">
                <a:solidFill>
                  <a:srgbClr val="262F37"/>
                </a:solidFill>
                <a:latin typeface="Aptos"/>
              </a:defRPr>
            </a:pPr>
            <a:r>
              <a:t>•  What support is available during outages?</a:t>
            </a:r>
          </a:p>
        </p:txBody>
      </p:sp>
      <p:sp>
        <p:nvSpPr>
          <p:cNvPr id="20" name="TextBox 19"/>
          <p:cNvSpPr txBox="1"/>
          <p:nvPr/>
        </p:nvSpPr>
        <p:spPr>
          <a:xfrm>
            <a:off x="822960" y="5623560"/>
            <a:ext cx="10515600" cy="320040"/>
          </a:xfrm>
          <a:prstGeom prst="rect">
            <a:avLst/>
          </a:prstGeom>
          <a:noFill/>
        </p:spPr>
        <p:txBody>
          <a:bodyPr wrap="square" lIns="45720" rIns="45720" anchor="t">
            <a:spAutoFit/>
          </a:bodyPr>
          <a:lstStyle/>
          <a:p>
            <a:pPr>
              <a:defRPr sz="1400" b="1">
                <a:solidFill>
                  <a:srgbClr val="262F37"/>
                </a:solidFill>
                <a:latin typeface="Aptos"/>
              </a:defRPr>
            </a:pPr>
            <a:r>
              <a:t>A 0.25 percentage-point change equals ₹3,750 each month at today's sales level.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PAYMENT FLOW</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How a payment moves through the system</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09</a:t>
            </a:r>
          </a:p>
        </p:txBody>
      </p:sp>
      <p:sp>
        <p:nvSpPr>
          <p:cNvPr id="7" name="Rounded Rectangle 6"/>
          <p:cNvSpPr/>
          <p:nvPr/>
        </p:nvSpPr>
        <p:spPr>
          <a:xfrm>
            <a:off x="502920" y="1828800"/>
            <a:ext cx="1965960" cy="1371600"/>
          </a:xfrm>
          <a:prstGeom prst="roundRect">
            <a:avLst>
              <a:gd name="adj" fmla="val 8000"/>
            </a:avLst>
          </a:prstGeom>
          <a:solidFill>
            <a:srgbClr val="FFFFFF"/>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057400"/>
            <a:ext cx="1783080" cy="274320"/>
          </a:xfrm>
          <a:prstGeom prst="rect">
            <a:avLst/>
          </a:prstGeom>
          <a:noFill/>
        </p:spPr>
        <p:txBody>
          <a:bodyPr wrap="square" lIns="45720" rIns="45720" anchor="t">
            <a:spAutoFit/>
          </a:bodyPr>
          <a:lstStyle/>
          <a:p>
            <a:pPr algn="ctr">
              <a:defRPr sz="1200" b="1">
                <a:solidFill>
                  <a:srgbClr val="4A6F87"/>
                </a:solidFill>
                <a:latin typeface="Aptos"/>
              </a:defRPr>
            </a:pPr>
            <a:r>
              <a:t>Customer</a:t>
            </a:r>
          </a:p>
        </p:txBody>
      </p:sp>
      <p:sp>
        <p:nvSpPr>
          <p:cNvPr id="9" name="TextBox 8"/>
          <p:cNvSpPr txBox="1"/>
          <p:nvPr/>
        </p:nvSpPr>
        <p:spPr>
          <a:xfrm>
            <a:off x="594360" y="2514600"/>
            <a:ext cx="1783080" cy="438912"/>
          </a:xfrm>
          <a:prstGeom prst="rect">
            <a:avLst/>
          </a:prstGeom>
          <a:noFill/>
        </p:spPr>
        <p:txBody>
          <a:bodyPr wrap="square" lIns="45720" rIns="45720" anchor="t">
            <a:spAutoFit/>
          </a:bodyPr>
          <a:lstStyle/>
          <a:p>
            <a:pPr algn="ctr">
              <a:defRPr sz="1100" b="0">
                <a:solidFill>
                  <a:srgbClr val="374046"/>
                </a:solidFill>
                <a:latin typeface="Aptos"/>
              </a:defRPr>
            </a:pPr>
            <a:r>
              <a:t>Chooses products</a:t>
            </a:r>
            <a:br/>
            <a:r>
              <a:t>and checks out</a:t>
            </a:r>
          </a:p>
        </p:txBody>
      </p:sp>
      <p:cxnSp>
        <p:nvCxnSpPr>
          <p:cNvPr id="10" name="Connector 9"/>
          <p:cNvCxnSpPr/>
          <p:nvPr/>
        </p:nvCxnSpPr>
        <p:spPr>
          <a:xfrm>
            <a:off x="2487168" y="2523744"/>
            <a:ext cx="320040" cy="0"/>
          </a:xfrm>
          <a:prstGeom prst="line">
            <a:avLst/>
          </a:prstGeom>
          <a:ln w="25400">
            <a:solidFill>
              <a:srgbClr val="9D5B3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62072" y="1828800"/>
            <a:ext cx="1965960" cy="1371600"/>
          </a:xfrm>
          <a:prstGeom prst="roundRect">
            <a:avLst>
              <a:gd name="adj" fmla="val 8000"/>
            </a:avLst>
          </a:prstGeom>
          <a:solidFill>
            <a:srgbClr val="FFFFFF"/>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53512" y="2057400"/>
            <a:ext cx="1783080" cy="274320"/>
          </a:xfrm>
          <a:prstGeom prst="rect">
            <a:avLst/>
          </a:prstGeom>
          <a:noFill/>
        </p:spPr>
        <p:txBody>
          <a:bodyPr wrap="square" lIns="45720" rIns="45720" anchor="t">
            <a:spAutoFit/>
          </a:bodyPr>
          <a:lstStyle/>
          <a:p>
            <a:pPr algn="ctr">
              <a:defRPr sz="1200" b="1">
                <a:solidFill>
                  <a:srgbClr val="9D5B33"/>
                </a:solidFill>
                <a:latin typeface="Aptos"/>
              </a:defRPr>
            </a:pPr>
            <a:r>
              <a:t>Checkout</a:t>
            </a:r>
          </a:p>
        </p:txBody>
      </p:sp>
      <p:sp>
        <p:nvSpPr>
          <p:cNvPr id="13" name="TextBox 12"/>
          <p:cNvSpPr txBox="1"/>
          <p:nvPr/>
        </p:nvSpPr>
        <p:spPr>
          <a:xfrm>
            <a:off x="2953512" y="2514600"/>
            <a:ext cx="1783080" cy="438912"/>
          </a:xfrm>
          <a:prstGeom prst="rect">
            <a:avLst/>
          </a:prstGeom>
          <a:noFill/>
        </p:spPr>
        <p:txBody>
          <a:bodyPr wrap="square" lIns="45720" rIns="45720" anchor="t">
            <a:spAutoFit/>
          </a:bodyPr>
          <a:lstStyle/>
          <a:p>
            <a:pPr algn="ctr">
              <a:defRPr sz="1100" b="0">
                <a:solidFill>
                  <a:srgbClr val="374046"/>
                </a:solidFill>
                <a:latin typeface="Aptos"/>
              </a:defRPr>
            </a:pPr>
            <a:r>
              <a:t>Selects UPI, card</a:t>
            </a:r>
            <a:br/>
            <a:r>
              <a:t>or another method</a:t>
            </a:r>
          </a:p>
        </p:txBody>
      </p:sp>
      <p:cxnSp>
        <p:nvCxnSpPr>
          <p:cNvPr id="14" name="Connector 13"/>
          <p:cNvCxnSpPr/>
          <p:nvPr/>
        </p:nvCxnSpPr>
        <p:spPr>
          <a:xfrm>
            <a:off x="4846320" y="2523744"/>
            <a:ext cx="320040" cy="0"/>
          </a:xfrm>
          <a:prstGeom prst="line">
            <a:avLst/>
          </a:prstGeom>
          <a:ln w="25400">
            <a:solidFill>
              <a:srgbClr val="9D5B33"/>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221224" y="1828800"/>
            <a:ext cx="1965960" cy="1371600"/>
          </a:xfrm>
          <a:prstGeom prst="roundRect">
            <a:avLst>
              <a:gd name="adj" fmla="val 8000"/>
            </a:avLst>
          </a:prstGeom>
          <a:solidFill>
            <a:srgbClr val="FFFFFF"/>
          </a:solidFill>
          <a:ln>
            <a:solidFill>
              <a:srgbClr val="AD84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12664" y="2057400"/>
            <a:ext cx="1783080" cy="274320"/>
          </a:xfrm>
          <a:prstGeom prst="rect">
            <a:avLst/>
          </a:prstGeom>
          <a:noFill/>
        </p:spPr>
        <p:txBody>
          <a:bodyPr wrap="square" lIns="45720" rIns="45720" anchor="t">
            <a:spAutoFit/>
          </a:bodyPr>
          <a:lstStyle/>
          <a:p>
            <a:pPr algn="ctr">
              <a:defRPr sz="1200" b="1">
                <a:solidFill>
                  <a:srgbClr val="AD843B"/>
                </a:solidFill>
                <a:latin typeface="Aptos"/>
              </a:defRPr>
            </a:pPr>
            <a:r>
              <a:t>Bank / network</a:t>
            </a:r>
          </a:p>
        </p:txBody>
      </p:sp>
      <p:sp>
        <p:nvSpPr>
          <p:cNvPr id="17" name="TextBox 16"/>
          <p:cNvSpPr txBox="1"/>
          <p:nvPr/>
        </p:nvSpPr>
        <p:spPr>
          <a:xfrm>
            <a:off x="5312664" y="2514600"/>
            <a:ext cx="1783080" cy="438912"/>
          </a:xfrm>
          <a:prstGeom prst="rect">
            <a:avLst/>
          </a:prstGeom>
          <a:noFill/>
        </p:spPr>
        <p:txBody>
          <a:bodyPr wrap="square" lIns="45720" rIns="45720" anchor="t">
            <a:spAutoFit/>
          </a:bodyPr>
          <a:lstStyle/>
          <a:p>
            <a:pPr algn="ctr">
              <a:defRPr sz="1100" b="0">
                <a:solidFill>
                  <a:srgbClr val="374046"/>
                </a:solidFill>
                <a:latin typeface="Aptos"/>
              </a:defRPr>
            </a:pPr>
            <a:r>
              <a:t>Authenticates and</a:t>
            </a:r>
            <a:br/>
            <a:r>
              <a:t>processes payment</a:t>
            </a:r>
          </a:p>
        </p:txBody>
      </p:sp>
      <p:cxnSp>
        <p:nvCxnSpPr>
          <p:cNvPr id="18" name="Connector 17"/>
          <p:cNvCxnSpPr/>
          <p:nvPr/>
        </p:nvCxnSpPr>
        <p:spPr>
          <a:xfrm>
            <a:off x="7205472" y="2523744"/>
            <a:ext cx="320040" cy="0"/>
          </a:xfrm>
          <a:prstGeom prst="line">
            <a:avLst/>
          </a:prstGeom>
          <a:ln w="25400">
            <a:solidFill>
              <a:srgbClr val="9D5B3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80376" y="1828800"/>
            <a:ext cx="1965960" cy="1371600"/>
          </a:xfrm>
          <a:prstGeom prst="roundRect">
            <a:avLst>
              <a:gd name="adj" fmla="val 8000"/>
            </a:avLst>
          </a:prstGeom>
          <a:solidFill>
            <a:srgbClr val="FFFFFF"/>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71816" y="2057400"/>
            <a:ext cx="1783080" cy="274320"/>
          </a:xfrm>
          <a:prstGeom prst="rect">
            <a:avLst/>
          </a:prstGeom>
          <a:noFill/>
        </p:spPr>
        <p:txBody>
          <a:bodyPr wrap="square" lIns="45720" rIns="45720" anchor="t">
            <a:spAutoFit/>
          </a:bodyPr>
          <a:lstStyle/>
          <a:p>
            <a:pPr algn="ctr">
              <a:defRPr sz="1200" b="1">
                <a:solidFill>
                  <a:srgbClr val="487058"/>
                </a:solidFill>
                <a:latin typeface="Aptos"/>
              </a:defRPr>
            </a:pPr>
            <a:r>
              <a:t>Payment partner</a:t>
            </a:r>
          </a:p>
        </p:txBody>
      </p:sp>
      <p:sp>
        <p:nvSpPr>
          <p:cNvPr id="21" name="TextBox 20"/>
          <p:cNvSpPr txBox="1"/>
          <p:nvPr/>
        </p:nvSpPr>
        <p:spPr>
          <a:xfrm>
            <a:off x="7671816" y="2514600"/>
            <a:ext cx="1783080" cy="438912"/>
          </a:xfrm>
          <a:prstGeom prst="rect">
            <a:avLst/>
          </a:prstGeom>
          <a:noFill/>
        </p:spPr>
        <p:txBody>
          <a:bodyPr wrap="square" lIns="45720" rIns="45720" anchor="t">
            <a:spAutoFit/>
          </a:bodyPr>
          <a:lstStyle/>
          <a:p>
            <a:pPr algn="ctr">
              <a:defRPr sz="1100" b="0">
                <a:solidFill>
                  <a:srgbClr val="374046"/>
                </a:solidFill>
                <a:latin typeface="Aptos"/>
              </a:defRPr>
            </a:pPr>
            <a:r>
              <a:t>Sends status and</a:t>
            </a:r>
            <a:br/>
            <a:r>
              <a:t>settlement reports</a:t>
            </a:r>
          </a:p>
        </p:txBody>
      </p:sp>
      <p:cxnSp>
        <p:nvCxnSpPr>
          <p:cNvPr id="22" name="Connector 21"/>
          <p:cNvCxnSpPr/>
          <p:nvPr/>
        </p:nvCxnSpPr>
        <p:spPr>
          <a:xfrm>
            <a:off x="9564624" y="2523744"/>
            <a:ext cx="320040" cy="0"/>
          </a:xfrm>
          <a:prstGeom prst="line">
            <a:avLst/>
          </a:prstGeom>
          <a:ln w="25400">
            <a:solidFill>
              <a:srgbClr val="9D5B33"/>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939528" y="1828800"/>
            <a:ext cx="1965960" cy="1371600"/>
          </a:xfrm>
          <a:prstGeom prst="roundRect">
            <a:avLst>
              <a:gd name="adj" fmla="val 8000"/>
            </a:avLst>
          </a:prstGeom>
          <a:solidFill>
            <a:srgbClr val="FFFFFF"/>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30968" y="2057400"/>
            <a:ext cx="1783080" cy="274320"/>
          </a:xfrm>
          <a:prstGeom prst="rect">
            <a:avLst/>
          </a:prstGeom>
          <a:noFill/>
        </p:spPr>
        <p:txBody>
          <a:bodyPr wrap="square" lIns="45720" rIns="45720" anchor="t">
            <a:spAutoFit/>
          </a:bodyPr>
          <a:lstStyle/>
          <a:p>
            <a:pPr algn="ctr">
              <a:defRPr sz="1200" b="1">
                <a:solidFill>
                  <a:srgbClr val="4A6F87"/>
                </a:solidFill>
                <a:latin typeface="Aptos"/>
              </a:defRPr>
            </a:pPr>
            <a:r>
              <a:t>Chai &amp; Co</a:t>
            </a:r>
          </a:p>
        </p:txBody>
      </p:sp>
      <p:sp>
        <p:nvSpPr>
          <p:cNvPr id="25" name="TextBox 24"/>
          <p:cNvSpPr txBox="1"/>
          <p:nvPr/>
        </p:nvSpPr>
        <p:spPr>
          <a:xfrm>
            <a:off x="10030968" y="2514600"/>
            <a:ext cx="1783080" cy="438912"/>
          </a:xfrm>
          <a:prstGeom prst="rect">
            <a:avLst/>
          </a:prstGeom>
          <a:noFill/>
        </p:spPr>
        <p:txBody>
          <a:bodyPr wrap="square" lIns="45720" rIns="45720" anchor="t">
            <a:spAutoFit/>
          </a:bodyPr>
          <a:lstStyle/>
          <a:p>
            <a:pPr algn="ctr">
              <a:defRPr sz="1100" b="0">
                <a:solidFill>
                  <a:srgbClr val="374046"/>
                </a:solidFill>
                <a:latin typeface="Aptos"/>
              </a:defRPr>
            </a:pPr>
            <a:r>
              <a:t>Receives payout</a:t>
            </a:r>
            <a:br/>
            <a:r>
              <a:t>in its bank account</a:t>
            </a:r>
          </a:p>
        </p:txBody>
      </p:sp>
      <p:sp>
        <p:nvSpPr>
          <p:cNvPr id="26" name="Rounded Rectangle 25"/>
          <p:cNvSpPr/>
          <p:nvPr/>
        </p:nvSpPr>
        <p:spPr>
          <a:xfrm>
            <a:off x="914400" y="4069080"/>
            <a:ext cx="4800600" cy="914400"/>
          </a:xfrm>
          <a:prstGeom prst="roundRect">
            <a:avLst>
              <a:gd name="adj" fmla="val 8000"/>
            </a:avLst>
          </a:prstGeom>
          <a:solidFill>
            <a:srgbClr val="F2EBDE"/>
          </a:solidFill>
          <a:ln>
            <a:solidFill>
              <a:srgbClr val="F2E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43000" y="4279392"/>
            <a:ext cx="4343400" cy="502920"/>
          </a:xfrm>
          <a:prstGeom prst="rect">
            <a:avLst/>
          </a:prstGeom>
          <a:noFill/>
        </p:spPr>
        <p:txBody>
          <a:bodyPr wrap="square" lIns="45720" rIns="45720" anchor="t">
            <a:spAutoFit/>
          </a:bodyPr>
          <a:lstStyle/>
          <a:p>
            <a:pPr algn="ctr">
              <a:defRPr sz="1200" b="1">
                <a:solidFill>
                  <a:srgbClr val="262F37"/>
                </a:solidFill>
                <a:latin typeface="Aptos"/>
              </a:defRPr>
            </a:pPr>
            <a:r>
              <a:t>The backend should confirm payment using the provider's signed server notification—not just the success screen.</a:t>
            </a:r>
          </a:p>
        </p:txBody>
      </p:sp>
      <p:sp>
        <p:nvSpPr>
          <p:cNvPr id="28" name="Rounded Rectangle 27"/>
          <p:cNvSpPr/>
          <p:nvPr/>
        </p:nvSpPr>
        <p:spPr>
          <a:xfrm>
            <a:off x="6446520" y="4069080"/>
            <a:ext cx="4800600" cy="914400"/>
          </a:xfrm>
          <a:prstGeom prst="roundRect">
            <a:avLst>
              <a:gd name="adj" fmla="val 8000"/>
            </a:avLst>
          </a:prstGeom>
          <a:solidFill>
            <a:srgbClr val="F2EBDE"/>
          </a:solidFill>
          <a:ln>
            <a:solidFill>
              <a:srgbClr val="F2E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75120" y="4279392"/>
            <a:ext cx="4343400" cy="502920"/>
          </a:xfrm>
          <a:prstGeom prst="rect">
            <a:avLst/>
          </a:prstGeom>
          <a:noFill/>
        </p:spPr>
        <p:txBody>
          <a:bodyPr wrap="square" lIns="45720" rIns="45720" anchor="t">
            <a:spAutoFit/>
          </a:bodyPr>
          <a:lstStyle/>
          <a:p>
            <a:pPr algn="ctr">
              <a:defRPr sz="1300" b="1">
                <a:solidFill>
                  <a:srgbClr val="262F37"/>
                </a:solidFill>
                <a:latin typeface="Aptos"/>
              </a:defRPr>
            </a:pPr>
            <a:r>
              <a:t>Keep order status, payment status and settlement status separate.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Settlement and reconciliation: a daily routine</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10</a:t>
            </a:r>
          </a:p>
        </p:txBody>
      </p:sp>
      <p:sp>
        <p:nvSpPr>
          <p:cNvPr id="7" name="TextBox 6"/>
          <p:cNvSpPr txBox="1"/>
          <p:nvPr/>
        </p:nvSpPr>
        <p:spPr>
          <a:xfrm>
            <a:off x="777240" y="1463040"/>
            <a:ext cx="4754880" cy="365760"/>
          </a:xfrm>
          <a:prstGeom prst="rect">
            <a:avLst/>
          </a:prstGeom>
          <a:noFill/>
        </p:spPr>
        <p:txBody>
          <a:bodyPr wrap="square" lIns="45720" rIns="45720" anchor="t">
            <a:spAutoFit/>
          </a:bodyPr>
          <a:lstStyle/>
          <a:p>
            <a:pPr>
              <a:defRPr sz="1700" b="1">
                <a:solidFill>
                  <a:srgbClr val="262F37"/>
                </a:solidFill>
                <a:latin typeface="Aptos"/>
              </a:defRPr>
            </a:pPr>
            <a:r>
              <a:t>What the team does each morning</a:t>
            </a:r>
          </a:p>
        </p:txBody>
      </p:sp>
      <p:sp>
        <p:nvSpPr>
          <p:cNvPr id="8" name="Rounded Rectangle 7"/>
          <p:cNvSpPr/>
          <p:nvPr/>
        </p:nvSpPr>
        <p:spPr>
          <a:xfrm>
            <a:off x="822960" y="1965960"/>
            <a:ext cx="411480" cy="411480"/>
          </a:xfrm>
          <a:prstGeom prst="roundRect">
            <a:avLst>
              <a:gd name="adj" fmla="val 8000"/>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11480" cy="182880"/>
          </a:xfrm>
          <a:prstGeom prst="rect">
            <a:avLst/>
          </a:prstGeom>
          <a:noFill/>
        </p:spPr>
        <p:txBody>
          <a:bodyPr wrap="square" lIns="45720" rIns="45720" anchor="t">
            <a:spAutoFit/>
          </a:bodyPr>
          <a:lstStyle/>
          <a:p>
            <a:pPr algn="ctr">
              <a:defRPr sz="1100" b="1">
                <a:solidFill>
                  <a:srgbClr val="FFFFFF"/>
                </a:solidFill>
                <a:latin typeface="Aptos"/>
              </a:defRPr>
            </a:pPr>
            <a:r>
              <a:t>1</a:t>
            </a:r>
          </a:p>
        </p:txBody>
      </p:sp>
      <p:sp>
        <p:nvSpPr>
          <p:cNvPr id="10" name="TextBox 9"/>
          <p:cNvSpPr txBox="1"/>
          <p:nvPr/>
        </p:nvSpPr>
        <p:spPr>
          <a:xfrm>
            <a:off x="1463040" y="2011679"/>
            <a:ext cx="4297680" cy="347472"/>
          </a:xfrm>
          <a:prstGeom prst="rect">
            <a:avLst/>
          </a:prstGeom>
          <a:noFill/>
        </p:spPr>
        <p:txBody>
          <a:bodyPr wrap="square" lIns="45720" rIns="45720" anchor="t">
            <a:spAutoFit/>
          </a:bodyPr>
          <a:lstStyle/>
          <a:p>
            <a:pPr>
              <a:defRPr sz="1200" b="0">
                <a:solidFill>
                  <a:srgbClr val="374046"/>
                </a:solidFill>
                <a:latin typeface="Aptos"/>
              </a:defRPr>
            </a:pPr>
            <a:r>
              <a:t>Download payment and settlement reports.</a:t>
            </a:r>
          </a:p>
        </p:txBody>
      </p:sp>
      <p:sp>
        <p:nvSpPr>
          <p:cNvPr id="11" name="Rounded Rectangle 10"/>
          <p:cNvSpPr/>
          <p:nvPr/>
        </p:nvSpPr>
        <p:spPr>
          <a:xfrm>
            <a:off x="822960" y="2606039"/>
            <a:ext cx="411480" cy="411480"/>
          </a:xfrm>
          <a:prstGeom prst="roundRect">
            <a:avLst>
              <a:gd name="adj" fmla="val 8000"/>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697479"/>
            <a:ext cx="411480" cy="182880"/>
          </a:xfrm>
          <a:prstGeom prst="rect">
            <a:avLst/>
          </a:prstGeom>
          <a:noFill/>
        </p:spPr>
        <p:txBody>
          <a:bodyPr wrap="square" lIns="45720" rIns="45720" anchor="t">
            <a:spAutoFit/>
          </a:bodyPr>
          <a:lstStyle/>
          <a:p>
            <a:pPr algn="ctr">
              <a:defRPr sz="1100" b="1">
                <a:solidFill>
                  <a:srgbClr val="FFFFFF"/>
                </a:solidFill>
                <a:latin typeface="Aptos"/>
              </a:defRPr>
            </a:pPr>
            <a:r>
              <a:t>2</a:t>
            </a:r>
          </a:p>
        </p:txBody>
      </p:sp>
      <p:sp>
        <p:nvSpPr>
          <p:cNvPr id="13" name="TextBox 12"/>
          <p:cNvSpPr txBox="1"/>
          <p:nvPr/>
        </p:nvSpPr>
        <p:spPr>
          <a:xfrm>
            <a:off x="1463040" y="2651759"/>
            <a:ext cx="4297680" cy="347472"/>
          </a:xfrm>
          <a:prstGeom prst="rect">
            <a:avLst/>
          </a:prstGeom>
          <a:noFill/>
        </p:spPr>
        <p:txBody>
          <a:bodyPr wrap="square" lIns="45720" rIns="45720" anchor="t">
            <a:spAutoFit/>
          </a:bodyPr>
          <a:lstStyle/>
          <a:p>
            <a:pPr>
              <a:defRPr sz="1200" b="0">
                <a:solidFill>
                  <a:srgbClr val="374046"/>
                </a:solidFill>
                <a:latin typeface="Aptos"/>
              </a:defRPr>
            </a:pPr>
            <a:r>
              <a:t>Import the bank statement and payout credits.</a:t>
            </a:r>
          </a:p>
        </p:txBody>
      </p:sp>
      <p:sp>
        <p:nvSpPr>
          <p:cNvPr id="14" name="Rounded Rectangle 13"/>
          <p:cNvSpPr/>
          <p:nvPr/>
        </p:nvSpPr>
        <p:spPr>
          <a:xfrm>
            <a:off x="822960" y="3246120"/>
            <a:ext cx="411480" cy="411480"/>
          </a:xfrm>
          <a:prstGeom prst="roundRect">
            <a:avLst>
              <a:gd name="adj" fmla="val 8000"/>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337560"/>
            <a:ext cx="411480" cy="182880"/>
          </a:xfrm>
          <a:prstGeom prst="rect">
            <a:avLst/>
          </a:prstGeom>
          <a:noFill/>
        </p:spPr>
        <p:txBody>
          <a:bodyPr wrap="square" lIns="45720" rIns="45720" anchor="t">
            <a:spAutoFit/>
          </a:bodyPr>
          <a:lstStyle/>
          <a:p>
            <a:pPr algn="ctr">
              <a:defRPr sz="1100" b="1">
                <a:solidFill>
                  <a:srgbClr val="FFFFFF"/>
                </a:solidFill>
                <a:latin typeface="Aptos"/>
              </a:defRPr>
            </a:pPr>
            <a:r>
              <a:t>3</a:t>
            </a:r>
          </a:p>
        </p:txBody>
      </p:sp>
      <p:sp>
        <p:nvSpPr>
          <p:cNvPr id="16" name="TextBox 15"/>
          <p:cNvSpPr txBox="1"/>
          <p:nvPr/>
        </p:nvSpPr>
        <p:spPr>
          <a:xfrm>
            <a:off x="1463040" y="3291839"/>
            <a:ext cx="4297680" cy="347472"/>
          </a:xfrm>
          <a:prstGeom prst="rect">
            <a:avLst/>
          </a:prstGeom>
          <a:noFill/>
        </p:spPr>
        <p:txBody>
          <a:bodyPr wrap="square" lIns="45720" rIns="45720" anchor="t">
            <a:spAutoFit/>
          </a:bodyPr>
          <a:lstStyle/>
          <a:p>
            <a:pPr>
              <a:defRPr sz="1200" b="0">
                <a:solidFill>
                  <a:srgbClr val="374046"/>
                </a:solidFill>
                <a:latin typeface="Aptos"/>
              </a:defRPr>
            </a:pPr>
            <a:r>
              <a:t>Match order, payment ID, amount, fee and payout.</a:t>
            </a:r>
          </a:p>
        </p:txBody>
      </p:sp>
      <p:sp>
        <p:nvSpPr>
          <p:cNvPr id="17" name="Rounded Rectangle 16"/>
          <p:cNvSpPr/>
          <p:nvPr/>
        </p:nvSpPr>
        <p:spPr>
          <a:xfrm>
            <a:off x="822960" y="3886200"/>
            <a:ext cx="411480" cy="411480"/>
          </a:xfrm>
          <a:prstGeom prst="roundRect">
            <a:avLst>
              <a:gd name="adj" fmla="val 8000"/>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977639"/>
            <a:ext cx="411480" cy="182880"/>
          </a:xfrm>
          <a:prstGeom prst="rect">
            <a:avLst/>
          </a:prstGeom>
          <a:noFill/>
        </p:spPr>
        <p:txBody>
          <a:bodyPr wrap="square" lIns="45720" rIns="45720" anchor="t">
            <a:spAutoFit/>
          </a:bodyPr>
          <a:lstStyle/>
          <a:p>
            <a:pPr algn="ctr">
              <a:defRPr sz="1100" b="1">
                <a:solidFill>
                  <a:srgbClr val="FFFFFF"/>
                </a:solidFill>
                <a:latin typeface="Aptos"/>
              </a:defRPr>
            </a:pPr>
            <a:r>
              <a:t>4</a:t>
            </a:r>
          </a:p>
        </p:txBody>
      </p:sp>
      <p:sp>
        <p:nvSpPr>
          <p:cNvPr id="19" name="TextBox 18"/>
          <p:cNvSpPr txBox="1"/>
          <p:nvPr/>
        </p:nvSpPr>
        <p:spPr>
          <a:xfrm>
            <a:off x="1463040" y="3931920"/>
            <a:ext cx="4297680" cy="347472"/>
          </a:xfrm>
          <a:prstGeom prst="rect">
            <a:avLst/>
          </a:prstGeom>
          <a:noFill/>
        </p:spPr>
        <p:txBody>
          <a:bodyPr wrap="square" lIns="45720" rIns="45720" anchor="t">
            <a:spAutoFit/>
          </a:bodyPr>
          <a:lstStyle/>
          <a:p>
            <a:pPr>
              <a:defRPr sz="1200" b="0">
                <a:solidFill>
                  <a:srgbClr val="374046"/>
                </a:solidFill>
                <a:latin typeface="Aptos"/>
              </a:defRPr>
            </a:pPr>
            <a:r>
              <a:t>Investigate missing payments, duplicates and refunds.</a:t>
            </a:r>
          </a:p>
        </p:txBody>
      </p:sp>
      <p:sp>
        <p:nvSpPr>
          <p:cNvPr id="20" name="Rounded Rectangle 19"/>
          <p:cNvSpPr/>
          <p:nvPr/>
        </p:nvSpPr>
        <p:spPr>
          <a:xfrm>
            <a:off x="822960" y="4526279"/>
            <a:ext cx="411480" cy="411480"/>
          </a:xfrm>
          <a:prstGeom prst="roundRect">
            <a:avLst>
              <a:gd name="adj" fmla="val 8000"/>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4617719"/>
            <a:ext cx="411480" cy="182880"/>
          </a:xfrm>
          <a:prstGeom prst="rect">
            <a:avLst/>
          </a:prstGeom>
          <a:noFill/>
        </p:spPr>
        <p:txBody>
          <a:bodyPr wrap="square" lIns="45720" rIns="45720" anchor="t">
            <a:spAutoFit/>
          </a:bodyPr>
          <a:lstStyle/>
          <a:p>
            <a:pPr algn="ctr">
              <a:defRPr sz="1100" b="1">
                <a:solidFill>
                  <a:srgbClr val="FFFFFF"/>
                </a:solidFill>
                <a:latin typeface="Aptos"/>
              </a:defRPr>
            </a:pPr>
            <a:r>
              <a:t>5</a:t>
            </a:r>
          </a:p>
        </p:txBody>
      </p:sp>
      <p:sp>
        <p:nvSpPr>
          <p:cNvPr id="22" name="TextBox 21"/>
          <p:cNvSpPr txBox="1"/>
          <p:nvPr/>
        </p:nvSpPr>
        <p:spPr>
          <a:xfrm>
            <a:off x="1463040" y="4571999"/>
            <a:ext cx="4297680" cy="347472"/>
          </a:xfrm>
          <a:prstGeom prst="rect">
            <a:avLst/>
          </a:prstGeom>
          <a:noFill/>
        </p:spPr>
        <p:txBody>
          <a:bodyPr wrap="square" lIns="45720" rIns="45720" anchor="t">
            <a:spAutoFit/>
          </a:bodyPr>
          <a:lstStyle/>
          <a:p>
            <a:pPr>
              <a:defRPr sz="1200" b="0">
                <a:solidFill>
                  <a:srgbClr val="374046"/>
                </a:solidFill>
                <a:latin typeface="Aptos"/>
              </a:defRPr>
            </a:pPr>
            <a:r>
              <a:t>Record the owner and deadline for every open issue.</a:t>
            </a:r>
          </a:p>
        </p:txBody>
      </p:sp>
      <p:sp>
        <p:nvSpPr>
          <p:cNvPr id="23" name="Rounded Rectangle 22"/>
          <p:cNvSpPr/>
          <p:nvPr/>
        </p:nvSpPr>
        <p:spPr>
          <a:xfrm>
            <a:off x="6400800" y="1600200"/>
            <a:ext cx="4800600" cy="3566160"/>
          </a:xfrm>
          <a:prstGeom prst="roundRect">
            <a:avLst>
              <a:gd name="adj" fmla="val 8000"/>
            </a:avLst>
          </a:prstGeom>
          <a:solidFill>
            <a:srgbClr val="FFFFFF"/>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20840" y="1874519"/>
            <a:ext cx="4160520" cy="320040"/>
          </a:xfrm>
          <a:prstGeom prst="rect">
            <a:avLst/>
          </a:prstGeom>
          <a:noFill/>
        </p:spPr>
        <p:txBody>
          <a:bodyPr wrap="square" lIns="45720" rIns="45720" anchor="t">
            <a:spAutoFit/>
          </a:bodyPr>
          <a:lstStyle/>
          <a:p>
            <a:pPr algn="ctr">
              <a:defRPr sz="1600" b="1">
                <a:solidFill>
                  <a:srgbClr val="487058"/>
                </a:solidFill>
                <a:latin typeface="Aptos"/>
              </a:defRPr>
            </a:pPr>
            <a:r>
              <a:t>Expected payout</a:t>
            </a:r>
          </a:p>
        </p:txBody>
      </p:sp>
      <p:sp>
        <p:nvSpPr>
          <p:cNvPr id="25" name="TextBox 24"/>
          <p:cNvSpPr txBox="1"/>
          <p:nvPr/>
        </p:nvSpPr>
        <p:spPr>
          <a:xfrm>
            <a:off x="6812280" y="2423160"/>
            <a:ext cx="3977639" cy="914400"/>
          </a:xfrm>
          <a:prstGeom prst="rect">
            <a:avLst/>
          </a:prstGeom>
          <a:noFill/>
        </p:spPr>
        <p:txBody>
          <a:bodyPr wrap="square" lIns="45720" rIns="45720" anchor="t">
            <a:spAutoFit/>
          </a:bodyPr>
          <a:lstStyle/>
          <a:p>
            <a:pPr algn="ctr">
              <a:defRPr sz="1500" b="1">
                <a:solidFill>
                  <a:srgbClr val="262F37"/>
                </a:solidFill>
                <a:latin typeface="Aptos"/>
              </a:defRPr>
            </a:pPr>
            <a:r>
              <a:t>Successful captured payments</a:t>
            </a:r>
            <a:br/>
            <a:r>
              <a:t>− refunds and reversals</a:t>
            </a:r>
            <a:br/>
            <a:r>
              <a:t>− fees and applicable taxes</a:t>
            </a:r>
          </a:p>
        </p:txBody>
      </p:sp>
      <p:sp>
        <p:nvSpPr>
          <p:cNvPr id="26" name="Rounded Rectangle 25"/>
          <p:cNvSpPr/>
          <p:nvPr/>
        </p:nvSpPr>
        <p:spPr>
          <a:xfrm>
            <a:off x="6995160" y="3611880"/>
            <a:ext cx="3611880" cy="530352"/>
          </a:xfrm>
          <a:prstGeom prst="roundRect">
            <a:avLst>
              <a:gd name="adj" fmla="val 8000"/>
            </a:avLst>
          </a:prstGeom>
          <a:solidFill>
            <a:srgbClr val="F2EBDE"/>
          </a:solidFill>
          <a:ln>
            <a:solidFill>
              <a:srgbClr val="F2E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78040" y="3749039"/>
            <a:ext cx="3246120" cy="228600"/>
          </a:xfrm>
          <a:prstGeom prst="rect">
            <a:avLst/>
          </a:prstGeom>
          <a:noFill/>
        </p:spPr>
        <p:txBody>
          <a:bodyPr wrap="square" lIns="45720" rIns="45720" anchor="t">
            <a:spAutoFit/>
          </a:bodyPr>
          <a:lstStyle/>
          <a:p>
            <a:pPr algn="ctr">
              <a:defRPr sz="1300" b="1">
                <a:solidFill>
                  <a:srgbClr val="262F37"/>
                </a:solidFill>
                <a:latin typeface="Aptos"/>
              </a:defRPr>
            </a:pPr>
            <a:r>
              <a:t>Compare with bank credit</a:t>
            </a:r>
          </a:p>
        </p:txBody>
      </p:sp>
      <p:sp>
        <p:nvSpPr>
          <p:cNvPr id="28" name="TextBox 27"/>
          <p:cNvSpPr txBox="1"/>
          <p:nvPr/>
        </p:nvSpPr>
        <p:spPr>
          <a:xfrm>
            <a:off x="6812280" y="4389120"/>
            <a:ext cx="3977639" cy="411480"/>
          </a:xfrm>
          <a:prstGeom prst="rect">
            <a:avLst/>
          </a:prstGeom>
          <a:noFill/>
        </p:spPr>
        <p:txBody>
          <a:bodyPr wrap="square" lIns="45720" rIns="45720" anchor="t">
            <a:spAutoFit/>
          </a:bodyPr>
          <a:lstStyle/>
          <a:p>
            <a:pPr algn="ctr">
              <a:defRPr sz="1100" b="0">
                <a:solidFill>
                  <a:srgbClr val="676F74"/>
                </a:solidFill>
                <a:latin typeface="Aptos"/>
              </a:defRPr>
            </a:pPr>
            <a:r>
              <a:t>Record timing differences instead of forcing a match.</a:t>
            </a:r>
          </a:p>
        </p:txBody>
      </p:sp>
      <p:sp>
        <p:nvSpPr>
          <p:cNvPr id="29" name="TextBox 28"/>
          <p:cNvSpPr txBox="1"/>
          <p:nvPr/>
        </p:nvSpPr>
        <p:spPr>
          <a:xfrm>
            <a:off x="822960" y="5623560"/>
            <a:ext cx="10424160" cy="365760"/>
          </a:xfrm>
          <a:prstGeom prst="rect">
            <a:avLst/>
          </a:prstGeom>
          <a:noFill/>
        </p:spPr>
        <p:txBody>
          <a:bodyPr wrap="square" lIns="45720" rIns="45720" anchor="t">
            <a:spAutoFit/>
          </a:bodyPr>
          <a:lstStyle/>
          <a:p>
            <a:pPr>
              <a:defRPr sz="1300" b="1">
                <a:solidFill>
                  <a:srgbClr val="262F37"/>
                </a:solidFill>
                <a:latin typeface="Aptos"/>
              </a:defRPr>
            </a:pPr>
            <a:r>
              <a:t>The contract must spell out settlement timing, payout cut-off, reserves and dispute handling.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RISK</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Fraud checks to have from day one</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11</a:t>
            </a:r>
          </a:p>
        </p:txBody>
      </p:sp>
      <p:sp>
        <p:nvSpPr>
          <p:cNvPr id="7" name="Rounded Rectangle 6"/>
          <p:cNvSpPr/>
          <p:nvPr/>
        </p:nvSpPr>
        <p:spPr>
          <a:xfrm>
            <a:off x="822960" y="1600200"/>
            <a:ext cx="1828800" cy="594360"/>
          </a:xfrm>
          <a:prstGeom prst="roundRect">
            <a:avLst>
              <a:gd name="adj" fmla="val 8000"/>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764792"/>
            <a:ext cx="1600200" cy="256032"/>
          </a:xfrm>
          <a:prstGeom prst="rect">
            <a:avLst/>
          </a:prstGeom>
          <a:noFill/>
        </p:spPr>
        <p:txBody>
          <a:bodyPr wrap="square" lIns="45720" rIns="45720" anchor="t">
            <a:spAutoFit/>
          </a:bodyPr>
          <a:lstStyle/>
          <a:p>
            <a:pPr algn="ctr">
              <a:defRPr sz="1200" b="1">
                <a:solidFill>
                  <a:srgbClr val="FFFFFF"/>
                </a:solidFill>
                <a:latin typeface="Aptos"/>
              </a:defRPr>
            </a:pPr>
            <a:r>
              <a:t>Card security</a:t>
            </a:r>
          </a:p>
        </p:txBody>
      </p:sp>
      <p:sp>
        <p:nvSpPr>
          <p:cNvPr id="9" name="TextBox 8"/>
          <p:cNvSpPr txBox="1"/>
          <p:nvPr/>
        </p:nvSpPr>
        <p:spPr>
          <a:xfrm>
            <a:off x="2971800" y="1673352"/>
            <a:ext cx="8046720" cy="438912"/>
          </a:xfrm>
          <a:prstGeom prst="rect">
            <a:avLst/>
          </a:prstGeom>
          <a:noFill/>
        </p:spPr>
        <p:txBody>
          <a:bodyPr wrap="square" lIns="45720" rIns="45720" anchor="t">
            <a:spAutoFit/>
          </a:bodyPr>
          <a:lstStyle/>
          <a:p>
            <a:pPr>
              <a:defRPr sz="1400" b="0">
                <a:solidFill>
                  <a:srgbClr val="374046"/>
                </a:solidFill>
                <a:latin typeface="Aptos"/>
              </a:defRPr>
            </a:pPr>
            <a:r>
              <a:t>Use provider-hosted fields and 3-D Secure where applicable.</a:t>
            </a:r>
          </a:p>
        </p:txBody>
      </p:sp>
      <p:sp>
        <p:nvSpPr>
          <p:cNvPr id="10" name="Rounded Rectangle 9"/>
          <p:cNvSpPr/>
          <p:nvPr/>
        </p:nvSpPr>
        <p:spPr>
          <a:xfrm>
            <a:off x="822960" y="2560320"/>
            <a:ext cx="1828800" cy="594360"/>
          </a:xfrm>
          <a:prstGeom prst="roundRect">
            <a:avLst>
              <a:gd name="adj" fmla="val 8000"/>
            </a:avLst>
          </a:prstGeom>
          <a:solidFill>
            <a:srgbClr val="4A6F87"/>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2724912"/>
            <a:ext cx="1600200" cy="256032"/>
          </a:xfrm>
          <a:prstGeom prst="rect">
            <a:avLst/>
          </a:prstGeom>
          <a:noFill/>
        </p:spPr>
        <p:txBody>
          <a:bodyPr wrap="square" lIns="45720" rIns="45720" anchor="t">
            <a:spAutoFit/>
          </a:bodyPr>
          <a:lstStyle/>
          <a:p>
            <a:pPr algn="ctr">
              <a:defRPr sz="1200" b="1">
                <a:solidFill>
                  <a:srgbClr val="FFFFFF"/>
                </a:solidFill>
                <a:latin typeface="Aptos"/>
              </a:defRPr>
            </a:pPr>
            <a:r>
              <a:t>Too many attempts</a:t>
            </a:r>
          </a:p>
        </p:txBody>
      </p:sp>
      <p:sp>
        <p:nvSpPr>
          <p:cNvPr id="12" name="TextBox 11"/>
          <p:cNvSpPr txBox="1"/>
          <p:nvPr/>
        </p:nvSpPr>
        <p:spPr>
          <a:xfrm>
            <a:off x="2971800" y="2633472"/>
            <a:ext cx="8046720" cy="438912"/>
          </a:xfrm>
          <a:prstGeom prst="rect">
            <a:avLst/>
          </a:prstGeom>
          <a:noFill/>
        </p:spPr>
        <p:txBody>
          <a:bodyPr wrap="square" lIns="45720" rIns="45720" anchor="t">
            <a:spAutoFit/>
          </a:bodyPr>
          <a:lstStyle/>
          <a:p>
            <a:pPr>
              <a:defRPr sz="1400" b="0">
                <a:solidFill>
                  <a:srgbClr val="374046"/>
                </a:solidFill>
                <a:latin typeface="Aptos"/>
              </a:defRPr>
            </a:pPr>
            <a:r>
              <a:t>Set velocity limits for repeated payments, cards, accounts and devices.</a:t>
            </a:r>
          </a:p>
        </p:txBody>
      </p:sp>
      <p:sp>
        <p:nvSpPr>
          <p:cNvPr id="13" name="Rounded Rectangle 12"/>
          <p:cNvSpPr/>
          <p:nvPr/>
        </p:nvSpPr>
        <p:spPr>
          <a:xfrm>
            <a:off x="822960" y="3520440"/>
            <a:ext cx="1828800" cy="594360"/>
          </a:xfrm>
          <a:prstGeom prst="roundRect">
            <a:avLst>
              <a:gd name="adj" fmla="val 8000"/>
            </a:avLst>
          </a:prstGeom>
          <a:solidFill>
            <a:srgbClr val="487058"/>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3685032"/>
            <a:ext cx="1600200" cy="256032"/>
          </a:xfrm>
          <a:prstGeom prst="rect">
            <a:avLst/>
          </a:prstGeom>
          <a:noFill/>
        </p:spPr>
        <p:txBody>
          <a:bodyPr wrap="square" lIns="45720" rIns="45720" anchor="t">
            <a:spAutoFit/>
          </a:bodyPr>
          <a:lstStyle/>
          <a:p>
            <a:pPr algn="ctr">
              <a:defRPr sz="1200" b="1">
                <a:solidFill>
                  <a:srgbClr val="FFFFFF"/>
                </a:solidFill>
                <a:latin typeface="Aptos"/>
              </a:defRPr>
            </a:pPr>
            <a:r>
              <a:t>Suspicious orders</a:t>
            </a:r>
          </a:p>
        </p:txBody>
      </p:sp>
      <p:sp>
        <p:nvSpPr>
          <p:cNvPr id="15" name="TextBox 14"/>
          <p:cNvSpPr txBox="1"/>
          <p:nvPr/>
        </p:nvSpPr>
        <p:spPr>
          <a:xfrm>
            <a:off x="2971800" y="3593592"/>
            <a:ext cx="8046720" cy="438912"/>
          </a:xfrm>
          <a:prstGeom prst="rect">
            <a:avLst/>
          </a:prstGeom>
          <a:noFill/>
        </p:spPr>
        <p:txBody>
          <a:bodyPr wrap="square" lIns="45720" rIns="45720" anchor="t">
            <a:spAutoFit/>
          </a:bodyPr>
          <a:lstStyle/>
          <a:p>
            <a:pPr>
              <a:defRPr sz="1400" b="0">
                <a:solidFill>
                  <a:srgbClr val="374046"/>
                </a:solidFill>
                <a:latin typeface="Aptos"/>
              </a:defRPr>
            </a:pPr>
            <a:r>
              <a:t>Review unusual order patterns and repeated declines before fulfilment.</a:t>
            </a:r>
          </a:p>
        </p:txBody>
      </p:sp>
      <p:sp>
        <p:nvSpPr>
          <p:cNvPr id="16" name="Rounded Rectangle 15"/>
          <p:cNvSpPr/>
          <p:nvPr/>
        </p:nvSpPr>
        <p:spPr>
          <a:xfrm>
            <a:off x="822960" y="4480560"/>
            <a:ext cx="1828800" cy="594360"/>
          </a:xfrm>
          <a:prstGeom prst="roundRect">
            <a:avLst>
              <a:gd name="adj" fmla="val 8000"/>
            </a:avLst>
          </a:prstGeom>
          <a:solidFill>
            <a:srgbClr val="AD843B"/>
          </a:solidFill>
          <a:ln>
            <a:solidFill>
              <a:srgbClr val="AD84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4645152"/>
            <a:ext cx="1600200" cy="256032"/>
          </a:xfrm>
          <a:prstGeom prst="rect">
            <a:avLst/>
          </a:prstGeom>
          <a:noFill/>
        </p:spPr>
        <p:txBody>
          <a:bodyPr wrap="square" lIns="45720" rIns="45720" anchor="t">
            <a:spAutoFit/>
          </a:bodyPr>
          <a:lstStyle/>
          <a:p>
            <a:pPr algn="ctr">
              <a:defRPr sz="1200" b="1">
                <a:solidFill>
                  <a:srgbClr val="FFFFFF"/>
                </a:solidFill>
                <a:latin typeface="Aptos"/>
              </a:defRPr>
            </a:pPr>
            <a:r>
              <a:t>Account access</a:t>
            </a:r>
          </a:p>
        </p:txBody>
      </p:sp>
      <p:sp>
        <p:nvSpPr>
          <p:cNvPr id="18" name="TextBox 17"/>
          <p:cNvSpPr txBox="1"/>
          <p:nvPr/>
        </p:nvSpPr>
        <p:spPr>
          <a:xfrm>
            <a:off x="2971800" y="4553712"/>
            <a:ext cx="8046720" cy="438912"/>
          </a:xfrm>
          <a:prstGeom prst="rect">
            <a:avLst/>
          </a:prstGeom>
          <a:noFill/>
        </p:spPr>
        <p:txBody>
          <a:bodyPr wrap="square" lIns="45720" rIns="45720" anchor="t">
            <a:spAutoFit/>
          </a:bodyPr>
          <a:lstStyle/>
          <a:p>
            <a:pPr>
              <a:defRPr sz="1400" b="0">
                <a:solidFill>
                  <a:srgbClr val="374046"/>
                </a:solidFill>
                <a:latin typeface="Aptos"/>
              </a:defRPr>
            </a:pPr>
            <a:r>
              <a:t>Protect admin accounts with MFA, least-privilege access and audit logs.</a:t>
            </a:r>
          </a:p>
        </p:txBody>
      </p:sp>
      <p:sp>
        <p:nvSpPr>
          <p:cNvPr id="19" name="Rounded Rectangle 18"/>
          <p:cNvSpPr/>
          <p:nvPr/>
        </p:nvSpPr>
        <p:spPr>
          <a:xfrm>
            <a:off x="822960" y="5623560"/>
            <a:ext cx="10469880" cy="438912"/>
          </a:xfrm>
          <a:prstGeom prst="roundRect">
            <a:avLst>
              <a:gd name="adj" fmla="val 8000"/>
            </a:avLst>
          </a:prstGeom>
          <a:solidFill>
            <a:srgbClr val="F6E6E1"/>
          </a:solidFill>
          <a:ln>
            <a:solidFill>
              <a:srgbClr val="F6E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5724144"/>
            <a:ext cx="10104120" cy="210312"/>
          </a:xfrm>
          <a:prstGeom prst="rect">
            <a:avLst/>
          </a:prstGeom>
          <a:noFill/>
        </p:spPr>
        <p:txBody>
          <a:bodyPr wrap="square" lIns="45720" rIns="45720" anchor="t">
            <a:spAutoFit/>
          </a:bodyPr>
          <a:lstStyle/>
          <a:p>
            <a:pPr algn="ctr">
              <a:defRPr sz="1200" b="1">
                <a:solidFill>
                  <a:srgbClr val="262F37"/>
                </a:solidFill>
                <a:latin typeface="Aptos"/>
              </a:defRPr>
            </a:pPr>
            <a:r>
              <a:t>Never store raw CVV or full card details. Track false declines as well as fraud losses.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Compliance and customer trust</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12</a:t>
            </a:r>
          </a:p>
        </p:txBody>
      </p:sp>
      <p:sp>
        <p:nvSpPr>
          <p:cNvPr id="7" name="Rounded Rectangle 6"/>
          <p:cNvSpPr/>
          <p:nvPr/>
        </p:nvSpPr>
        <p:spPr>
          <a:xfrm>
            <a:off x="777240" y="1508760"/>
            <a:ext cx="2103120" cy="658368"/>
          </a:xfrm>
          <a:prstGeom prst="roundRect">
            <a:avLst>
              <a:gd name="adj" fmla="val 8000"/>
            </a:avLst>
          </a:prstGeom>
          <a:solidFill>
            <a:srgbClr val="FFFFFF"/>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91639"/>
            <a:ext cx="1828800" cy="274320"/>
          </a:xfrm>
          <a:prstGeom prst="rect">
            <a:avLst/>
          </a:prstGeom>
          <a:noFill/>
        </p:spPr>
        <p:txBody>
          <a:bodyPr wrap="square" lIns="45720" rIns="45720" anchor="t">
            <a:spAutoFit/>
          </a:bodyPr>
          <a:lstStyle/>
          <a:p>
            <a:pPr algn="ctr">
              <a:defRPr sz="1200" b="1">
                <a:solidFill>
                  <a:srgbClr val="262F37"/>
                </a:solidFill>
                <a:latin typeface="Aptos"/>
              </a:defRPr>
            </a:pPr>
            <a:r>
              <a:t>Merchant checks</a:t>
            </a:r>
          </a:p>
        </p:txBody>
      </p:sp>
      <p:sp>
        <p:nvSpPr>
          <p:cNvPr id="9" name="TextBox 8"/>
          <p:cNvSpPr txBox="1"/>
          <p:nvPr/>
        </p:nvSpPr>
        <p:spPr>
          <a:xfrm>
            <a:off x="3200400" y="1591056"/>
            <a:ext cx="7909560" cy="512064"/>
          </a:xfrm>
          <a:prstGeom prst="rect">
            <a:avLst/>
          </a:prstGeom>
          <a:noFill/>
        </p:spPr>
        <p:txBody>
          <a:bodyPr wrap="square" lIns="45720" rIns="45720" anchor="t">
            <a:spAutoFit/>
          </a:bodyPr>
          <a:lstStyle/>
          <a:p>
            <a:pPr>
              <a:defRPr sz="1300" b="0">
                <a:solidFill>
                  <a:srgbClr val="374046"/>
                </a:solidFill>
                <a:latin typeface="Aptos"/>
              </a:defRPr>
            </a:pPr>
            <a:r>
              <a:t>Prepare company details, PAN, bank proof, authorised signatory and ownership information for provider KYB.</a:t>
            </a:r>
          </a:p>
        </p:txBody>
      </p:sp>
      <p:sp>
        <p:nvSpPr>
          <p:cNvPr id="10" name="Rounded Rectangle 9"/>
          <p:cNvSpPr/>
          <p:nvPr/>
        </p:nvSpPr>
        <p:spPr>
          <a:xfrm>
            <a:off x="777240" y="2496312"/>
            <a:ext cx="2103120" cy="658368"/>
          </a:xfrm>
          <a:prstGeom prst="roundRect">
            <a:avLst>
              <a:gd name="adj" fmla="val 8000"/>
            </a:avLst>
          </a:prstGeom>
          <a:solidFill>
            <a:srgbClr val="FFFFFF"/>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679192"/>
            <a:ext cx="1828800" cy="274320"/>
          </a:xfrm>
          <a:prstGeom prst="rect">
            <a:avLst/>
          </a:prstGeom>
          <a:noFill/>
        </p:spPr>
        <p:txBody>
          <a:bodyPr wrap="square" lIns="45720" rIns="45720" anchor="t">
            <a:spAutoFit/>
          </a:bodyPr>
          <a:lstStyle/>
          <a:p>
            <a:pPr algn="ctr">
              <a:defRPr sz="1200" b="1">
                <a:solidFill>
                  <a:srgbClr val="262F37"/>
                </a:solidFill>
                <a:latin typeface="Aptos"/>
              </a:defRPr>
            </a:pPr>
            <a:r>
              <a:t>Card data</a:t>
            </a:r>
          </a:p>
        </p:txBody>
      </p:sp>
      <p:sp>
        <p:nvSpPr>
          <p:cNvPr id="12" name="TextBox 11"/>
          <p:cNvSpPr txBox="1"/>
          <p:nvPr/>
        </p:nvSpPr>
        <p:spPr>
          <a:xfrm>
            <a:off x="3200400" y="2578608"/>
            <a:ext cx="7909560" cy="512064"/>
          </a:xfrm>
          <a:prstGeom prst="rect">
            <a:avLst/>
          </a:prstGeom>
          <a:noFill/>
        </p:spPr>
        <p:txBody>
          <a:bodyPr wrap="square" lIns="45720" rIns="45720" anchor="t">
            <a:spAutoFit/>
          </a:bodyPr>
          <a:lstStyle/>
          <a:p>
            <a:pPr>
              <a:defRPr sz="1300" b="0">
                <a:solidFill>
                  <a:srgbClr val="374046"/>
                </a:solidFill>
                <a:latin typeface="Aptos"/>
              </a:defRPr>
            </a:pPr>
            <a:r>
              <a:t>Use tokenisation for saved cards where supported; do not keep CVV and confirm PCI DSS responsibilities.</a:t>
            </a:r>
          </a:p>
        </p:txBody>
      </p:sp>
      <p:sp>
        <p:nvSpPr>
          <p:cNvPr id="13" name="Rounded Rectangle 12"/>
          <p:cNvSpPr/>
          <p:nvPr/>
        </p:nvSpPr>
        <p:spPr>
          <a:xfrm>
            <a:off x="777240" y="3483864"/>
            <a:ext cx="2103120" cy="658368"/>
          </a:xfrm>
          <a:prstGeom prst="roundRect">
            <a:avLst>
              <a:gd name="adj" fmla="val 8000"/>
            </a:avLst>
          </a:prstGeom>
          <a:solidFill>
            <a:srgbClr val="FFFFFF"/>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666744"/>
            <a:ext cx="1828800" cy="274320"/>
          </a:xfrm>
          <a:prstGeom prst="rect">
            <a:avLst/>
          </a:prstGeom>
          <a:noFill/>
        </p:spPr>
        <p:txBody>
          <a:bodyPr wrap="square" lIns="45720" rIns="45720" anchor="t">
            <a:spAutoFit/>
          </a:bodyPr>
          <a:lstStyle/>
          <a:p>
            <a:pPr algn="ctr">
              <a:defRPr sz="1200" b="1">
                <a:solidFill>
                  <a:srgbClr val="262F37"/>
                </a:solidFill>
                <a:latin typeface="Aptos"/>
              </a:defRPr>
            </a:pPr>
            <a:r>
              <a:t>Customer data</a:t>
            </a:r>
          </a:p>
        </p:txBody>
      </p:sp>
      <p:sp>
        <p:nvSpPr>
          <p:cNvPr id="15" name="TextBox 14"/>
          <p:cNvSpPr txBox="1"/>
          <p:nvPr/>
        </p:nvSpPr>
        <p:spPr>
          <a:xfrm>
            <a:off x="3200400" y="3566160"/>
            <a:ext cx="7909560" cy="512064"/>
          </a:xfrm>
          <a:prstGeom prst="rect">
            <a:avLst/>
          </a:prstGeom>
          <a:noFill/>
        </p:spPr>
        <p:txBody>
          <a:bodyPr wrap="square" lIns="45720" rIns="45720" anchor="t">
            <a:spAutoFit/>
          </a:bodyPr>
          <a:lstStyle/>
          <a:p>
            <a:pPr>
              <a:defRPr sz="1300" b="0">
                <a:solidFill>
                  <a:srgbClr val="374046"/>
                </a:solidFill>
                <a:latin typeface="Aptos"/>
              </a:defRPr>
            </a:pPr>
            <a:r>
              <a:t>Explain what data is collected and why; limit access and retention; review vendor sharing.</a:t>
            </a:r>
          </a:p>
        </p:txBody>
      </p:sp>
      <p:sp>
        <p:nvSpPr>
          <p:cNvPr id="16" name="Rounded Rectangle 15"/>
          <p:cNvSpPr/>
          <p:nvPr/>
        </p:nvSpPr>
        <p:spPr>
          <a:xfrm>
            <a:off x="777240" y="4471416"/>
            <a:ext cx="2103120" cy="658368"/>
          </a:xfrm>
          <a:prstGeom prst="roundRect">
            <a:avLst>
              <a:gd name="adj" fmla="val 8000"/>
            </a:avLst>
          </a:prstGeom>
          <a:solidFill>
            <a:srgbClr val="FFFFFF"/>
          </a:solidFill>
          <a:ln>
            <a:solidFill>
              <a:srgbClr val="AD84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654296"/>
            <a:ext cx="1828800" cy="274320"/>
          </a:xfrm>
          <a:prstGeom prst="rect">
            <a:avLst/>
          </a:prstGeom>
          <a:noFill/>
        </p:spPr>
        <p:txBody>
          <a:bodyPr wrap="square" lIns="45720" rIns="45720" anchor="t">
            <a:spAutoFit/>
          </a:bodyPr>
          <a:lstStyle/>
          <a:p>
            <a:pPr algn="ctr">
              <a:defRPr sz="1200" b="1">
                <a:solidFill>
                  <a:srgbClr val="262F37"/>
                </a:solidFill>
                <a:latin typeface="Aptos"/>
              </a:defRPr>
            </a:pPr>
            <a:r>
              <a:t>Website policies</a:t>
            </a:r>
          </a:p>
        </p:txBody>
      </p:sp>
      <p:sp>
        <p:nvSpPr>
          <p:cNvPr id="18" name="TextBox 17"/>
          <p:cNvSpPr txBox="1"/>
          <p:nvPr/>
        </p:nvSpPr>
        <p:spPr>
          <a:xfrm>
            <a:off x="3200400" y="4553712"/>
            <a:ext cx="7909560" cy="512064"/>
          </a:xfrm>
          <a:prstGeom prst="rect">
            <a:avLst/>
          </a:prstGeom>
          <a:noFill/>
        </p:spPr>
        <p:txBody>
          <a:bodyPr wrap="square" lIns="45720" rIns="45720" anchor="t">
            <a:spAutoFit/>
          </a:bodyPr>
          <a:lstStyle/>
          <a:p>
            <a:pPr>
              <a:defRPr sz="1300" b="0">
                <a:solidFill>
                  <a:srgbClr val="374046"/>
                </a:solidFill>
                <a:latin typeface="Aptos"/>
              </a:defRPr>
            </a:pPr>
            <a:r>
              <a:t>Publish clear shipping, cancellation, refund, privacy and customer-support details.</a:t>
            </a:r>
          </a:p>
        </p:txBody>
      </p:sp>
      <p:sp>
        <p:nvSpPr>
          <p:cNvPr id="19" name="TextBox 18"/>
          <p:cNvSpPr txBox="1"/>
          <p:nvPr/>
        </p:nvSpPr>
        <p:spPr>
          <a:xfrm>
            <a:off x="822960" y="5623560"/>
            <a:ext cx="10515600" cy="411480"/>
          </a:xfrm>
          <a:prstGeom prst="rect">
            <a:avLst/>
          </a:prstGeom>
          <a:noFill/>
        </p:spPr>
        <p:txBody>
          <a:bodyPr wrap="square" lIns="45720" rIns="45720" anchor="t">
            <a:spAutoFit/>
          </a:bodyPr>
          <a:lstStyle/>
          <a:p>
            <a:pPr>
              <a:defRPr sz="1300" b="1">
                <a:solidFill>
                  <a:srgbClr val="262F37"/>
                </a:solidFill>
                <a:latin typeface="Aptos"/>
              </a:defRPr>
            </a:pPr>
            <a:r>
              <a:t>Have Finance, Engineering and a legal/privacy adviser confirm the rules that apply at launch.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Keep UAE expansion in mind, but don't overbuild now</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13</a:t>
            </a:r>
          </a:p>
        </p:txBody>
      </p:sp>
      <p:sp>
        <p:nvSpPr>
          <p:cNvPr id="7" name="Rounded Rectangle 6"/>
          <p:cNvSpPr/>
          <p:nvPr/>
        </p:nvSpPr>
        <p:spPr>
          <a:xfrm>
            <a:off x="731520" y="1645920"/>
            <a:ext cx="5120640" cy="1325880"/>
          </a:xfrm>
          <a:prstGeom prst="roundRect">
            <a:avLst>
              <a:gd name="adj" fmla="val 8000"/>
            </a:avLst>
          </a:prstGeom>
          <a:solidFill>
            <a:srgbClr val="FFFFFF"/>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10512"/>
            <a:ext cx="4709160" cy="274320"/>
          </a:xfrm>
          <a:prstGeom prst="rect">
            <a:avLst/>
          </a:prstGeom>
          <a:noFill/>
        </p:spPr>
        <p:txBody>
          <a:bodyPr wrap="square" lIns="45720" rIns="45720" anchor="t">
            <a:spAutoFit/>
          </a:bodyPr>
          <a:lstStyle/>
          <a:p>
            <a:pPr>
              <a:defRPr sz="1200" b="1">
                <a:solidFill>
                  <a:srgbClr val="9D5B33"/>
                </a:solidFill>
                <a:latin typeface="Aptos"/>
              </a:defRPr>
            </a:pPr>
            <a:r>
              <a:t>AT LAUNCH</a:t>
            </a:r>
          </a:p>
        </p:txBody>
      </p:sp>
      <p:sp>
        <p:nvSpPr>
          <p:cNvPr id="9" name="TextBox 8"/>
          <p:cNvSpPr txBox="1"/>
          <p:nvPr/>
        </p:nvSpPr>
        <p:spPr>
          <a:xfrm>
            <a:off x="914400" y="2167128"/>
            <a:ext cx="4709160" cy="594360"/>
          </a:xfrm>
          <a:prstGeom prst="rect">
            <a:avLst/>
          </a:prstGeom>
          <a:noFill/>
        </p:spPr>
        <p:txBody>
          <a:bodyPr wrap="square" lIns="45720" rIns="45720" anchor="t">
            <a:spAutoFit/>
          </a:bodyPr>
          <a:lstStyle/>
          <a:p>
            <a:pPr>
              <a:defRPr sz="1200" b="0">
                <a:solidFill>
                  <a:srgbClr val="374046"/>
                </a:solidFill>
                <a:latin typeface="Aptos"/>
              </a:defRPr>
            </a:pPr>
            <a:r>
              <a:t>Focus on Indian customers, INR payments, UPI, cards and reliable reporting.</a:t>
            </a:r>
          </a:p>
        </p:txBody>
      </p:sp>
      <p:sp>
        <p:nvSpPr>
          <p:cNvPr id="10" name="Rounded Rectangle 9"/>
          <p:cNvSpPr/>
          <p:nvPr/>
        </p:nvSpPr>
        <p:spPr>
          <a:xfrm>
            <a:off x="6355080" y="1645920"/>
            <a:ext cx="5120640" cy="1325880"/>
          </a:xfrm>
          <a:prstGeom prst="roundRect">
            <a:avLst>
              <a:gd name="adj" fmla="val 8000"/>
            </a:avLst>
          </a:prstGeom>
          <a:solidFill>
            <a:srgbClr val="FFFFFF"/>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1810512"/>
            <a:ext cx="4709160" cy="274320"/>
          </a:xfrm>
          <a:prstGeom prst="rect">
            <a:avLst/>
          </a:prstGeom>
          <a:noFill/>
        </p:spPr>
        <p:txBody>
          <a:bodyPr wrap="square" lIns="45720" rIns="45720" anchor="t">
            <a:spAutoFit/>
          </a:bodyPr>
          <a:lstStyle/>
          <a:p>
            <a:pPr>
              <a:defRPr sz="1200" b="1">
                <a:solidFill>
                  <a:srgbClr val="4A6F87"/>
                </a:solidFill>
                <a:latin typeface="Aptos"/>
              </a:defRPr>
            </a:pPr>
            <a:r>
              <a:t>IN 6–9 MONTHS</a:t>
            </a:r>
          </a:p>
        </p:txBody>
      </p:sp>
      <p:sp>
        <p:nvSpPr>
          <p:cNvPr id="12" name="TextBox 11"/>
          <p:cNvSpPr txBox="1"/>
          <p:nvPr/>
        </p:nvSpPr>
        <p:spPr>
          <a:xfrm>
            <a:off x="6537960" y="2167128"/>
            <a:ext cx="4709160" cy="594360"/>
          </a:xfrm>
          <a:prstGeom prst="rect">
            <a:avLst/>
          </a:prstGeom>
          <a:noFill/>
        </p:spPr>
        <p:txBody>
          <a:bodyPr wrap="square" lIns="45720" rIns="45720" anchor="t">
            <a:spAutoFit/>
          </a:bodyPr>
          <a:lstStyle/>
          <a:p>
            <a:pPr>
              <a:defRPr sz="1200" b="0">
                <a:solidFill>
                  <a:srgbClr val="374046"/>
                </a:solidFill>
                <a:latin typeface="Aptos"/>
              </a:defRPr>
            </a:pPr>
            <a:r>
              <a:t>Ask providers about UAE card acceptance, AED pricing, FX rates and settlement currency.</a:t>
            </a:r>
          </a:p>
        </p:txBody>
      </p:sp>
      <p:sp>
        <p:nvSpPr>
          <p:cNvPr id="13" name="Rounded Rectangle 12"/>
          <p:cNvSpPr/>
          <p:nvPr/>
        </p:nvSpPr>
        <p:spPr>
          <a:xfrm>
            <a:off x="731520" y="3429000"/>
            <a:ext cx="5120640" cy="1325880"/>
          </a:xfrm>
          <a:prstGeom prst="roundRect">
            <a:avLst>
              <a:gd name="adj" fmla="val 8000"/>
            </a:avLst>
          </a:prstGeom>
          <a:solidFill>
            <a:srgbClr val="FFFFFF"/>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593592"/>
            <a:ext cx="4709160" cy="274320"/>
          </a:xfrm>
          <a:prstGeom prst="rect">
            <a:avLst/>
          </a:prstGeom>
          <a:noFill/>
        </p:spPr>
        <p:txBody>
          <a:bodyPr wrap="square" lIns="45720" rIns="45720" anchor="t">
            <a:spAutoFit/>
          </a:bodyPr>
          <a:lstStyle/>
          <a:p>
            <a:pPr>
              <a:defRPr sz="1200" b="1">
                <a:solidFill>
                  <a:srgbClr val="487058"/>
                </a:solidFill>
                <a:latin typeface="Aptos"/>
              </a:defRPr>
            </a:pPr>
            <a:r>
              <a:t>BEFORE SELLING</a:t>
            </a:r>
          </a:p>
        </p:txBody>
      </p:sp>
      <p:sp>
        <p:nvSpPr>
          <p:cNvPr id="15" name="TextBox 14"/>
          <p:cNvSpPr txBox="1"/>
          <p:nvPr/>
        </p:nvSpPr>
        <p:spPr>
          <a:xfrm>
            <a:off x="914400" y="3950208"/>
            <a:ext cx="4709160" cy="594360"/>
          </a:xfrm>
          <a:prstGeom prst="rect">
            <a:avLst/>
          </a:prstGeom>
          <a:noFill/>
        </p:spPr>
        <p:txBody>
          <a:bodyPr wrap="square" lIns="45720" rIns="45720" anchor="t">
            <a:spAutoFit/>
          </a:bodyPr>
          <a:lstStyle/>
          <a:p>
            <a:pPr>
              <a:defRPr sz="1200" b="0">
                <a:solidFill>
                  <a:srgbClr val="374046"/>
                </a:solidFill>
                <a:latin typeface="Aptos"/>
              </a:defRPr>
            </a:pPr>
            <a:r>
              <a:t>Check cross-border permissions, export paperwork, tax, shipping, returns and privacy rules.</a:t>
            </a:r>
          </a:p>
        </p:txBody>
      </p:sp>
      <p:sp>
        <p:nvSpPr>
          <p:cNvPr id="16" name="Rounded Rectangle 15"/>
          <p:cNvSpPr/>
          <p:nvPr/>
        </p:nvSpPr>
        <p:spPr>
          <a:xfrm>
            <a:off x="6355080" y="3429000"/>
            <a:ext cx="5120640" cy="1325880"/>
          </a:xfrm>
          <a:prstGeom prst="roundRect">
            <a:avLst>
              <a:gd name="adj" fmla="val 8000"/>
            </a:avLst>
          </a:prstGeom>
          <a:solidFill>
            <a:srgbClr val="FFFFFF"/>
          </a:solidFill>
          <a:ln>
            <a:solidFill>
              <a:srgbClr val="AD84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37960" y="3593592"/>
            <a:ext cx="4709160" cy="274320"/>
          </a:xfrm>
          <a:prstGeom prst="rect">
            <a:avLst/>
          </a:prstGeom>
          <a:noFill/>
        </p:spPr>
        <p:txBody>
          <a:bodyPr wrap="square" lIns="45720" rIns="45720" anchor="t">
            <a:spAutoFit/>
          </a:bodyPr>
          <a:lstStyle/>
          <a:p>
            <a:pPr>
              <a:defRPr sz="1200" b="1">
                <a:solidFill>
                  <a:srgbClr val="AD843B"/>
                </a:solidFill>
                <a:latin typeface="Aptos"/>
              </a:defRPr>
            </a:pPr>
            <a:r>
              <a:t>PILOT</a:t>
            </a:r>
          </a:p>
        </p:txBody>
      </p:sp>
      <p:sp>
        <p:nvSpPr>
          <p:cNvPr id="18" name="TextBox 17"/>
          <p:cNvSpPr txBox="1"/>
          <p:nvPr/>
        </p:nvSpPr>
        <p:spPr>
          <a:xfrm>
            <a:off x="6537960" y="3950208"/>
            <a:ext cx="4709160" cy="594360"/>
          </a:xfrm>
          <a:prstGeom prst="rect">
            <a:avLst/>
          </a:prstGeom>
          <a:noFill/>
        </p:spPr>
        <p:txBody>
          <a:bodyPr wrap="square" lIns="45720" rIns="45720" anchor="t">
            <a:spAutoFit/>
          </a:bodyPr>
          <a:lstStyle/>
          <a:p>
            <a:pPr>
              <a:defRPr sz="1200" b="0">
                <a:solidFill>
                  <a:srgbClr val="374046"/>
                </a:solidFill>
                <a:latin typeface="Aptos"/>
              </a:defRPr>
            </a:pPr>
            <a:r>
              <a:t>Test a small number of real orders and reconcile the FX rate and net amount received.</a:t>
            </a:r>
          </a:p>
        </p:txBody>
      </p:sp>
      <p:sp>
        <p:nvSpPr>
          <p:cNvPr id="19" name="TextBox 18"/>
          <p:cNvSpPr txBox="1"/>
          <p:nvPr/>
        </p:nvSpPr>
        <p:spPr>
          <a:xfrm>
            <a:off x="822960" y="5577840"/>
            <a:ext cx="10515600" cy="365760"/>
          </a:xfrm>
          <a:prstGeom prst="rect">
            <a:avLst/>
          </a:prstGeom>
          <a:noFill/>
        </p:spPr>
        <p:txBody>
          <a:bodyPr wrap="square" lIns="45720" rIns="45720" anchor="t">
            <a:spAutoFit/>
          </a:bodyPr>
          <a:lstStyle/>
          <a:p>
            <a:pPr>
              <a:defRPr sz="1400" b="1">
                <a:solidFill>
                  <a:srgbClr val="262F37"/>
                </a:solidFill>
                <a:latin typeface="Aptos"/>
              </a:defRPr>
            </a:pPr>
            <a:r>
              <a:t>A domestic payment contract does not automatically permit cross-border collections.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How we will know the launch is working</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14</a:t>
            </a:r>
          </a:p>
        </p:txBody>
      </p:sp>
      <p:sp>
        <p:nvSpPr>
          <p:cNvPr id="7" name="Rounded Rectangle 6"/>
          <p:cNvSpPr/>
          <p:nvPr/>
        </p:nvSpPr>
        <p:spPr>
          <a:xfrm>
            <a:off x="685800" y="1600200"/>
            <a:ext cx="3429000" cy="1170432"/>
          </a:xfrm>
          <a:prstGeom prst="roundRect">
            <a:avLst>
              <a:gd name="adj" fmla="val 8000"/>
            </a:avLst>
          </a:prstGeom>
          <a:solidFill>
            <a:srgbClr val="FFFFFF"/>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55648"/>
            <a:ext cx="3154680" cy="274320"/>
          </a:xfrm>
          <a:prstGeom prst="rect">
            <a:avLst/>
          </a:prstGeom>
          <a:noFill/>
        </p:spPr>
        <p:txBody>
          <a:bodyPr wrap="square" lIns="45720" rIns="45720" anchor="t">
            <a:spAutoFit/>
          </a:bodyPr>
          <a:lstStyle/>
          <a:p>
            <a:pPr algn="ctr">
              <a:defRPr sz="1200" b="1">
                <a:solidFill>
                  <a:srgbClr val="9D5B33"/>
                </a:solidFill>
                <a:latin typeface="Aptos"/>
              </a:defRPr>
            </a:pPr>
            <a:r>
              <a:t>Payment success</a:t>
            </a:r>
          </a:p>
        </p:txBody>
      </p:sp>
      <p:sp>
        <p:nvSpPr>
          <p:cNvPr id="9" name="TextBox 8"/>
          <p:cNvSpPr txBox="1"/>
          <p:nvPr/>
        </p:nvSpPr>
        <p:spPr>
          <a:xfrm>
            <a:off x="850392" y="2130552"/>
            <a:ext cx="3108960" cy="457200"/>
          </a:xfrm>
          <a:prstGeom prst="rect">
            <a:avLst/>
          </a:prstGeom>
          <a:noFill/>
        </p:spPr>
        <p:txBody>
          <a:bodyPr wrap="square" lIns="45720" rIns="45720" anchor="t">
            <a:spAutoFit/>
          </a:bodyPr>
          <a:lstStyle/>
          <a:p>
            <a:pPr algn="ctr">
              <a:defRPr sz="1100" b="0">
                <a:solidFill>
                  <a:srgbClr val="374046"/>
                </a:solidFill>
                <a:latin typeface="Aptos"/>
              </a:defRPr>
            </a:pPr>
            <a:r>
              <a:t>Compare success and pending rates by method.</a:t>
            </a:r>
          </a:p>
        </p:txBody>
      </p:sp>
      <p:sp>
        <p:nvSpPr>
          <p:cNvPr id="10" name="Rounded Rectangle 9"/>
          <p:cNvSpPr/>
          <p:nvPr/>
        </p:nvSpPr>
        <p:spPr>
          <a:xfrm>
            <a:off x="4480560" y="1600200"/>
            <a:ext cx="3429000" cy="1170432"/>
          </a:xfrm>
          <a:prstGeom prst="roundRect">
            <a:avLst>
              <a:gd name="adj" fmla="val 8000"/>
            </a:avLst>
          </a:prstGeom>
          <a:solidFill>
            <a:srgbClr val="FFFFFF"/>
          </a:solidFill>
          <a:ln>
            <a:solidFill>
              <a:srgbClr val="4A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755648"/>
            <a:ext cx="3154680" cy="274320"/>
          </a:xfrm>
          <a:prstGeom prst="rect">
            <a:avLst/>
          </a:prstGeom>
          <a:noFill/>
        </p:spPr>
        <p:txBody>
          <a:bodyPr wrap="square" lIns="45720" rIns="45720" anchor="t">
            <a:spAutoFit/>
          </a:bodyPr>
          <a:lstStyle/>
          <a:p>
            <a:pPr algn="ctr">
              <a:defRPr sz="1200" b="1">
                <a:solidFill>
                  <a:srgbClr val="4A6F87"/>
                </a:solidFill>
                <a:latin typeface="Aptos"/>
              </a:defRPr>
            </a:pPr>
            <a:r>
              <a:t>Checkout conversion</a:t>
            </a:r>
          </a:p>
        </p:txBody>
      </p:sp>
      <p:sp>
        <p:nvSpPr>
          <p:cNvPr id="12" name="TextBox 11"/>
          <p:cNvSpPr txBox="1"/>
          <p:nvPr/>
        </p:nvSpPr>
        <p:spPr>
          <a:xfrm>
            <a:off x="4645152" y="2130552"/>
            <a:ext cx="3108960" cy="457200"/>
          </a:xfrm>
          <a:prstGeom prst="rect">
            <a:avLst/>
          </a:prstGeom>
          <a:noFill/>
        </p:spPr>
        <p:txBody>
          <a:bodyPr wrap="square" lIns="45720" rIns="45720" anchor="t">
            <a:spAutoFit/>
          </a:bodyPr>
          <a:lstStyle/>
          <a:p>
            <a:pPr algn="ctr">
              <a:defRPr sz="1100" b="0">
                <a:solidFill>
                  <a:srgbClr val="374046"/>
                </a:solidFill>
                <a:latin typeface="Aptos"/>
              </a:defRPr>
            </a:pPr>
            <a:r>
              <a:t>Measure how many carts become paid orders, especially on mobile.</a:t>
            </a:r>
          </a:p>
        </p:txBody>
      </p:sp>
      <p:sp>
        <p:nvSpPr>
          <p:cNvPr id="13" name="Rounded Rectangle 12"/>
          <p:cNvSpPr/>
          <p:nvPr/>
        </p:nvSpPr>
        <p:spPr>
          <a:xfrm>
            <a:off x="8275320" y="1600200"/>
            <a:ext cx="3429000" cy="1170432"/>
          </a:xfrm>
          <a:prstGeom prst="roundRect">
            <a:avLst>
              <a:gd name="adj" fmla="val 8000"/>
            </a:avLst>
          </a:prstGeom>
          <a:solidFill>
            <a:srgbClr val="FFFFFF"/>
          </a:solidFill>
          <a:ln>
            <a:solidFill>
              <a:srgbClr val="48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1755648"/>
            <a:ext cx="3154680" cy="274320"/>
          </a:xfrm>
          <a:prstGeom prst="rect">
            <a:avLst/>
          </a:prstGeom>
          <a:noFill/>
        </p:spPr>
        <p:txBody>
          <a:bodyPr wrap="square" lIns="45720" rIns="45720" anchor="t">
            <a:spAutoFit/>
          </a:bodyPr>
          <a:lstStyle/>
          <a:p>
            <a:pPr algn="ctr">
              <a:defRPr sz="1200" b="1">
                <a:solidFill>
                  <a:srgbClr val="487058"/>
                </a:solidFill>
                <a:latin typeface="Aptos"/>
              </a:defRPr>
            </a:pPr>
            <a:r>
              <a:t>Payment cost</a:t>
            </a:r>
          </a:p>
        </p:txBody>
      </p:sp>
      <p:sp>
        <p:nvSpPr>
          <p:cNvPr id="15" name="TextBox 14"/>
          <p:cNvSpPr txBox="1"/>
          <p:nvPr/>
        </p:nvSpPr>
        <p:spPr>
          <a:xfrm>
            <a:off x="8439912" y="2130552"/>
            <a:ext cx="3108960" cy="457200"/>
          </a:xfrm>
          <a:prstGeom prst="rect">
            <a:avLst/>
          </a:prstGeom>
          <a:noFill/>
        </p:spPr>
        <p:txBody>
          <a:bodyPr wrap="square" lIns="45720" rIns="45720" anchor="t">
            <a:spAutoFit/>
          </a:bodyPr>
          <a:lstStyle/>
          <a:p>
            <a:pPr algn="ctr">
              <a:defRPr sz="1100" b="0">
                <a:solidFill>
                  <a:srgbClr val="374046"/>
                </a:solidFill>
                <a:latin typeface="Aptos"/>
              </a:defRPr>
            </a:pPr>
            <a:r>
              <a:t>Total fees and tax divided by successful orders.</a:t>
            </a:r>
          </a:p>
        </p:txBody>
      </p:sp>
      <p:sp>
        <p:nvSpPr>
          <p:cNvPr id="16" name="Rounded Rectangle 15"/>
          <p:cNvSpPr/>
          <p:nvPr/>
        </p:nvSpPr>
        <p:spPr>
          <a:xfrm>
            <a:off x="685800" y="3108960"/>
            <a:ext cx="3429000" cy="1170432"/>
          </a:xfrm>
          <a:prstGeom prst="roundRect">
            <a:avLst>
              <a:gd name="adj" fmla="val 8000"/>
            </a:avLst>
          </a:prstGeom>
          <a:solidFill>
            <a:srgbClr val="FFFFFF"/>
          </a:solidFill>
          <a:ln>
            <a:solidFill>
              <a:srgbClr val="AD84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3264408"/>
            <a:ext cx="3154680" cy="274320"/>
          </a:xfrm>
          <a:prstGeom prst="rect">
            <a:avLst/>
          </a:prstGeom>
          <a:noFill/>
        </p:spPr>
        <p:txBody>
          <a:bodyPr wrap="square" lIns="45720" rIns="45720" anchor="t">
            <a:spAutoFit/>
          </a:bodyPr>
          <a:lstStyle/>
          <a:p>
            <a:pPr algn="ctr">
              <a:defRPr sz="1200" b="1">
                <a:solidFill>
                  <a:srgbClr val="AD843B"/>
                </a:solidFill>
                <a:latin typeface="Aptos"/>
              </a:defRPr>
            </a:pPr>
            <a:r>
              <a:t>Payout accuracy</a:t>
            </a:r>
          </a:p>
        </p:txBody>
      </p:sp>
      <p:sp>
        <p:nvSpPr>
          <p:cNvPr id="18" name="TextBox 17"/>
          <p:cNvSpPr txBox="1"/>
          <p:nvPr/>
        </p:nvSpPr>
        <p:spPr>
          <a:xfrm>
            <a:off x="850392" y="3639312"/>
            <a:ext cx="3108960" cy="457200"/>
          </a:xfrm>
          <a:prstGeom prst="rect">
            <a:avLst/>
          </a:prstGeom>
          <a:noFill/>
        </p:spPr>
        <p:txBody>
          <a:bodyPr wrap="square" lIns="45720" rIns="45720" anchor="t">
            <a:spAutoFit/>
          </a:bodyPr>
          <a:lstStyle/>
          <a:p>
            <a:pPr algn="ctr">
              <a:defRPr sz="1100" b="0">
                <a:solidFill>
                  <a:srgbClr val="374046"/>
                </a:solidFill>
                <a:latin typeface="Aptos"/>
              </a:defRPr>
            </a:pPr>
            <a:r>
              <a:t>Track mismatches and how long they remain unresolved.</a:t>
            </a:r>
          </a:p>
        </p:txBody>
      </p:sp>
      <p:sp>
        <p:nvSpPr>
          <p:cNvPr id="19" name="Rounded Rectangle 18"/>
          <p:cNvSpPr/>
          <p:nvPr/>
        </p:nvSpPr>
        <p:spPr>
          <a:xfrm>
            <a:off x="4480560" y="3108960"/>
            <a:ext cx="3429000" cy="1170432"/>
          </a:xfrm>
          <a:prstGeom prst="roundRect">
            <a:avLst>
              <a:gd name="adj" fmla="val 8000"/>
            </a:avLst>
          </a:prstGeom>
          <a:solidFill>
            <a:srgbClr val="FFFFFF"/>
          </a:solidFill>
          <a:ln>
            <a:solidFill>
              <a:srgbClr val="974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17720" y="3264408"/>
            <a:ext cx="3154680" cy="274320"/>
          </a:xfrm>
          <a:prstGeom prst="rect">
            <a:avLst/>
          </a:prstGeom>
          <a:noFill/>
        </p:spPr>
        <p:txBody>
          <a:bodyPr wrap="square" lIns="45720" rIns="45720" anchor="t">
            <a:spAutoFit/>
          </a:bodyPr>
          <a:lstStyle/>
          <a:p>
            <a:pPr algn="ctr">
              <a:defRPr sz="1200" b="1">
                <a:solidFill>
                  <a:srgbClr val="974B41"/>
                </a:solidFill>
                <a:latin typeface="Aptos"/>
              </a:defRPr>
            </a:pPr>
            <a:r>
              <a:t>Fraud and disputes</a:t>
            </a:r>
          </a:p>
        </p:txBody>
      </p:sp>
      <p:sp>
        <p:nvSpPr>
          <p:cNvPr id="21" name="TextBox 20"/>
          <p:cNvSpPr txBox="1"/>
          <p:nvPr/>
        </p:nvSpPr>
        <p:spPr>
          <a:xfrm>
            <a:off x="4645152" y="3639312"/>
            <a:ext cx="3108960" cy="457200"/>
          </a:xfrm>
          <a:prstGeom prst="rect">
            <a:avLst/>
          </a:prstGeom>
          <a:noFill/>
        </p:spPr>
        <p:txBody>
          <a:bodyPr wrap="square" lIns="45720" rIns="45720" anchor="t">
            <a:spAutoFit/>
          </a:bodyPr>
          <a:lstStyle/>
          <a:p>
            <a:pPr algn="ctr">
              <a:defRPr sz="1100" b="0">
                <a:solidFill>
                  <a:srgbClr val="374046"/>
                </a:solidFill>
                <a:latin typeface="Aptos"/>
              </a:defRPr>
            </a:pPr>
            <a:r>
              <a:t>Watch chargebacks, suspicious orders and false declines.</a:t>
            </a:r>
          </a:p>
        </p:txBody>
      </p:sp>
      <p:sp>
        <p:nvSpPr>
          <p:cNvPr id="22" name="Rounded Rectangle 21"/>
          <p:cNvSpPr/>
          <p:nvPr/>
        </p:nvSpPr>
        <p:spPr>
          <a:xfrm>
            <a:off x="8275320" y="3108960"/>
            <a:ext cx="3429000" cy="1170432"/>
          </a:xfrm>
          <a:prstGeom prst="roundRect">
            <a:avLst>
              <a:gd name="adj" fmla="val 8000"/>
            </a:avLst>
          </a:prstGeom>
          <a:solidFill>
            <a:srgbClr val="FFFFFF"/>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0" y="3264408"/>
            <a:ext cx="3154680" cy="274320"/>
          </a:xfrm>
          <a:prstGeom prst="rect">
            <a:avLst/>
          </a:prstGeom>
          <a:noFill/>
        </p:spPr>
        <p:txBody>
          <a:bodyPr wrap="square" lIns="45720" rIns="45720" anchor="t">
            <a:spAutoFit/>
          </a:bodyPr>
          <a:lstStyle/>
          <a:p>
            <a:pPr algn="ctr">
              <a:defRPr sz="1200" b="1">
                <a:solidFill>
                  <a:srgbClr val="9D5B33"/>
                </a:solidFill>
                <a:latin typeface="Aptos"/>
              </a:defRPr>
            </a:pPr>
            <a:r>
              <a:t>Customer feedback</a:t>
            </a:r>
          </a:p>
        </p:txBody>
      </p:sp>
      <p:sp>
        <p:nvSpPr>
          <p:cNvPr id="24" name="TextBox 23"/>
          <p:cNvSpPr txBox="1"/>
          <p:nvPr/>
        </p:nvSpPr>
        <p:spPr>
          <a:xfrm>
            <a:off x="8439912" y="3639312"/>
            <a:ext cx="3108960" cy="457200"/>
          </a:xfrm>
          <a:prstGeom prst="rect">
            <a:avLst/>
          </a:prstGeom>
          <a:noFill/>
        </p:spPr>
        <p:txBody>
          <a:bodyPr wrap="square" lIns="45720" rIns="45720" anchor="t">
            <a:spAutoFit/>
          </a:bodyPr>
          <a:lstStyle/>
          <a:p>
            <a:pPr algn="ctr">
              <a:defRPr sz="1100" b="0">
                <a:solidFill>
                  <a:srgbClr val="374046"/>
                </a:solidFill>
                <a:latin typeface="Aptos"/>
              </a:defRPr>
            </a:pPr>
            <a:r>
              <a:t>Monitor payment complaints and refund turnaround.</a:t>
            </a:r>
          </a:p>
        </p:txBody>
      </p:sp>
      <p:sp>
        <p:nvSpPr>
          <p:cNvPr id="25" name="TextBox 24"/>
          <p:cNvSpPr txBox="1"/>
          <p:nvPr/>
        </p:nvSpPr>
        <p:spPr>
          <a:xfrm>
            <a:off x="822960" y="4983480"/>
            <a:ext cx="10515600" cy="320040"/>
          </a:xfrm>
          <a:prstGeom prst="rect">
            <a:avLst/>
          </a:prstGeom>
          <a:noFill/>
        </p:spPr>
        <p:txBody>
          <a:bodyPr wrap="square" lIns="45720" rIns="45720" anchor="t">
            <a:spAutoFit/>
          </a:bodyPr>
          <a:lstStyle/>
          <a:p>
            <a:pPr>
              <a:defRPr sz="1400" b="1">
                <a:solidFill>
                  <a:srgbClr val="262F37"/>
                </a:solidFill>
                <a:latin typeface="Aptos"/>
              </a:defRPr>
            </a:pPr>
            <a:r>
              <a:t>First month: find the biggest problems. Second month: fix them. Third month: review pricing and optimise.</a:t>
            </a:r>
          </a:p>
        </p:txBody>
      </p:sp>
      <p:sp>
        <p:nvSpPr>
          <p:cNvPr id="26" name="TextBox 25"/>
          <p:cNvSpPr txBox="1"/>
          <p:nvPr/>
        </p:nvSpPr>
        <p:spPr>
          <a:xfrm>
            <a:off x="822960" y="5486400"/>
            <a:ext cx="10515600" cy="320040"/>
          </a:xfrm>
          <a:prstGeom prst="rect">
            <a:avLst/>
          </a:prstGeom>
          <a:noFill/>
        </p:spPr>
        <p:txBody>
          <a:bodyPr wrap="square" lIns="45720" rIns="45720" anchor="t">
            <a:spAutoFit/>
          </a:bodyPr>
          <a:lstStyle/>
          <a:p>
            <a:pPr>
              <a:defRPr sz="1200" b="0">
                <a:solidFill>
                  <a:srgbClr val="676F74"/>
                </a:solidFill>
                <a:latin typeface="Aptos"/>
              </a:defRPr>
            </a:pPr>
            <a:r>
              <a:t>Review the numbers weekly with Product, Engineering, Finance and Customer Support.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6400800" cy="219456"/>
          </a:xfrm>
          <a:prstGeom prst="rect">
            <a:avLst/>
          </a:prstGeom>
          <a:noFill/>
        </p:spPr>
        <p:txBody>
          <a:bodyPr wrap="square" lIns="45720" rIns="45720" anchor="t">
            <a:spAutoFit/>
          </a:bodyPr>
          <a:lstStyle/>
          <a:p>
            <a:pPr>
              <a:defRPr sz="900" b="1">
                <a:solidFill>
                  <a:srgbClr val="9D5B33"/>
                </a:solidFill>
                <a:latin typeface="Aptos"/>
              </a:defRPr>
            </a:pPr>
            <a:r>
              <a:t>CHAI &amp; CO | PAYMENT PLAN</a:t>
            </a:r>
          </a:p>
        </p:txBody>
      </p:sp>
      <p:sp>
        <p:nvSpPr>
          <p:cNvPr id="3" name="TextBox 2"/>
          <p:cNvSpPr txBox="1"/>
          <p:nvPr/>
        </p:nvSpPr>
        <p:spPr>
          <a:xfrm>
            <a:off x="594360" y="566928"/>
            <a:ext cx="10972800" cy="502920"/>
          </a:xfrm>
          <a:prstGeom prst="rect">
            <a:avLst/>
          </a:prstGeom>
          <a:noFill/>
        </p:spPr>
        <p:txBody>
          <a:bodyPr wrap="square" lIns="45720" rIns="45720" anchor="t">
            <a:spAutoFit/>
          </a:bodyPr>
          <a:lstStyle/>
          <a:p>
            <a:pPr>
              <a:defRPr sz="2500" b="1">
                <a:solidFill>
                  <a:srgbClr val="262F37"/>
                </a:solidFill>
                <a:latin typeface="Aptos"/>
              </a:defRPr>
            </a:pPr>
            <a:r>
              <a:t>Final recommendation</a:t>
            </a:r>
          </a:p>
        </p:txBody>
      </p:sp>
      <p:sp>
        <p:nvSpPr>
          <p:cNvPr id="4" name="Rectangle 3"/>
          <p:cNvSpPr/>
          <p:nvPr/>
        </p:nvSpPr>
        <p:spPr>
          <a:xfrm>
            <a:off x="594360" y="1143000"/>
            <a:ext cx="594360" cy="41148"/>
          </a:xfrm>
          <a:prstGeom prst="rect">
            <a:avLst/>
          </a:prstGeom>
          <a:solidFill>
            <a:srgbClr val="9D5B33"/>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10528"/>
            <a:ext cx="8229600" cy="164592"/>
          </a:xfrm>
          <a:prstGeom prst="rect">
            <a:avLst/>
          </a:prstGeom>
          <a:noFill/>
        </p:spPr>
        <p:txBody>
          <a:bodyPr wrap="square" lIns="45720" rIns="45720" anchor="t">
            <a:spAutoFit/>
          </a:bodyPr>
          <a:lstStyle/>
          <a:p>
            <a:pPr>
              <a:defRPr sz="800" b="0">
                <a:solidFill>
                  <a:srgbClr val="676F74"/>
                </a:solidFill>
                <a:latin typeface="Aptos"/>
              </a:defRPr>
            </a:pPr>
            <a:r>
              <a:t>CHAI &amp; CO  •  PAYMENT LAUNCH PLAN  •  OCTOBER 2026</a:t>
            </a:r>
          </a:p>
        </p:txBody>
      </p:sp>
      <p:sp>
        <p:nvSpPr>
          <p:cNvPr id="6" name="TextBox 5"/>
          <p:cNvSpPr txBox="1"/>
          <p:nvPr/>
        </p:nvSpPr>
        <p:spPr>
          <a:xfrm>
            <a:off x="11064240" y="6473952"/>
            <a:ext cx="502920" cy="201168"/>
          </a:xfrm>
          <a:prstGeom prst="rect">
            <a:avLst/>
          </a:prstGeom>
          <a:noFill/>
        </p:spPr>
        <p:txBody>
          <a:bodyPr wrap="square" lIns="45720" rIns="45720" anchor="t">
            <a:spAutoFit/>
          </a:bodyPr>
          <a:lstStyle/>
          <a:p>
            <a:pPr algn="r">
              <a:defRPr sz="900" b="1">
                <a:solidFill>
                  <a:srgbClr val="9D5B33"/>
                </a:solidFill>
                <a:latin typeface="Aptos"/>
              </a:defRPr>
            </a:pPr>
            <a:r>
              <a:t>15</a:t>
            </a:r>
          </a:p>
        </p:txBody>
      </p:sp>
      <p:sp>
        <p:nvSpPr>
          <p:cNvPr id="7" name="Rounded Rectangle 6"/>
          <p:cNvSpPr/>
          <p:nvPr/>
        </p:nvSpPr>
        <p:spPr>
          <a:xfrm>
            <a:off x="731520" y="1508760"/>
            <a:ext cx="5074920" cy="3611880"/>
          </a:xfrm>
          <a:prstGeom prst="roundRect">
            <a:avLst>
              <a:gd name="adj" fmla="val 8000"/>
            </a:avLst>
          </a:prstGeom>
          <a:solidFill>
            <a:srgbClr val="FFFFFF"/>
          </a:solidFill>
          <a:ln>
            <a:solidFill>
              <a:srgbClr val="9D5B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810512"/>
            <a:ext cx="4480560" cy="320040"/>
          </a:xfrm>
          <a:prstGeom prst="rect">
            <a:avLst/>
          </a:prstGeom>
          <a:noFill/>
        </p:spPr>
        <p:txBody>
          <a:bodyPr wrap="square" lIns="45720" rIns="45720" anchor="t">
            <a:spAutoFit/>
          </a:bodyPr>
          <a:lstStyle/>
          <a:p>
            <a:pPr>
              <a:defRPr sz="1500" b="1">
                <a:solidFill>
                  <a:srgbClr val="9D5B33"/>
                </a:solidFill>
                <a:latin typeface="Aptos"/>
              </a:defRPr>
            </a:pPr>
            <a:r>
              <a:t>WHAT I WOULD DO</a:t>
            </a:r>
          </a:p>
        </p:txBody>
      </p:sp>
      <p:sp>
        <p:nvSpPr>
          <p:cNvPr id="9" name="TextBox 8"/>
          <p:cNvSpPr txBox="1"/>
          <p:nvPr/>
        </p:nvSpPr>
        <p:spPr>
          <a:xfrm>
            <a:off x="1051560" y="2331720"/>
            <a:ext cx="4434840" cy="2377440"/>
          </a:xfrm>
          <a:prstGeom prst="rect">
            <a:avLst/>
          </a:prstGeom>
          <a:noFill/>
        </p:spPr>
        <p:txBody>
          <a:bodyPr wrap="square" lIns="45720" tIns="18288" rIns="45720" bIns="18288">
            <a:spAutoFit/>
          </a:bodyPr>
          <a:lstStyle/>
          <a:p>
            <a:pPr>
              <a:spcAft>
                <a:spcPts val="800"/>
              </a:spcAft>
              <a:defRPr sz="1300">
                <a:solidFill>
                  <a:srgbClr val="262F37"/>
                </a:solidFill>
                <a:latin typeface="Aptos"/>
              </a:defRPr>
            </a:pPr>
            <a:r>
              <a:t>•  Launch UPI and cards first, with netbanking and wallets available.</a:t>
            </a:r>
          </a:p>
          <a:p>
            <a:pPr>
              <a:spcAft>
                <a:spcPts val="800"/>
              </a:spcAft>
              <a:defRPr sz="1300">
                <a:solidFill>
                  <a:srgbClr val="262F37"/>
                </a:solidFill>
                <a:latin typeface="Aptos"/>
              </a:defRPr>
            </a:pPr>
            <a:r>
              <a:t>•  Use a branded hosted checkout for web and app.</a:t>
            </a:r>
          </a:p>
          <a:p>
            <a:pPr>
              <a:spcAft>
                <a:spcPts val="800"/>
              </a:spcAft>
              <a:defRPr sz="1300">
                <a:solidFill>
                  <a:srgbClr val="262F37"/>
                </a:solidFill>
                <a:latin typeface="Aptos"/>
              </a:defRPr>
            </a:pPr>
            <a:r>
              <a:t>•  Start with an authorised payment aggregator.</a:t>
            </a:r>
          </a:p>
          <a:p>
            <a:pPr>
              <a:spcAft>
                <a:spcPts val="800"/>
              </a:spcAft>
              <a:defRPr sz="1300">
                <a:solidFill>
                  <a:srgbClr val="262F37"/>
                </a:solidFill>
                <a:latin typeface="Aptos"/>
              </a:defRPr>
            </a:pPr>
            <a:r>
              <a:t>•  Reconcile payouts every working day.</a:t>
            </a:r>
          </a:p>
          <a:p>
            <a:pPr>
              <a:spcAft>
                <a:spcPts val="800"/>
              </a:spcAft>
              <a:defRPr sz="1300">
                <a:solidFill>
                  <a:srgbClr val="262F37"/>
                </a:solidFill>
                <a:latin typeface="Aptos"/>
              </a:defRPr>
            </a:pPr>
            <a:r>
              <a:t>•  Review actual costs and UAE readiness after launch.</a:t>
            </a:r>
          </a:p>
        </p:txBody>
      </p:sp>
      <p:sp>
        <p:nvSpPr>
          <p:cNvPr id="10" name="TextBox 9"/>
          <p:cNvSpPr txBox="1"/>
          <p:nvPr/>
        </p:nvSpPr>
        <p:spPr>
          <a:xfrm>
            <a:off x="6263640" y="1600200"/>
            <a:ext cx="4846320" cy="320040"/>
          </a:xfrm>
          <a:prstGeom prst="rect">
            <a:avLst/>
          </a:prstGeom>
          <a:noFill/>
        </p:spPr>
        <p:txBody>
          <a:bodyPr wrap="square" lIns="45720" rIns="45720" anchor="t">
            <a:spAutoFit/>
          </a:bodyPr>
          <a:lstStyle/>
          <a:p>
            <a:pPr>
              <a:defRPr sz="1500" b="1">
                <a:solidFill>
                  <a:srgbClr val="4A6F87"/>
                </a:solidFill>
                <a:latin typeface="Aptos"/>
              </a:defRPr>
            </a:pPr>
            <a:r>
              <a:t>Sources to check before implementation</a:t>
            </a:r>
          </a:p>
        </p:txBody>
      </p:sp>
      <p:sp>
        <p:nvSpPr>
          <p:cNvPr id="11" name="TextBox 10"/>
          <p:cNvSpPr txBox="1"/>
          <p:nvPr/>
        </p:nvSpPr>
        <p:spPr>
          <a:xfrm>
            <a:off x="6309360" y="2103120"/>
            <a:ext cx="4892040" cy="2468880"/>
          </a:xfrm>
          <a:prstGeom prst="rect">
            <a:avLst/>
          </a:prstGeom>
          <a:noFill/>
        </p:spPr>
        <p:txBody>
          <a:bodyPr wrap="square" lIns="45720" tIns="18288" rIns="45720" bIns="18288">
            <a:spAutoFit/>
          </a:bodyPr>
          <a:lstStyle/>
          <a:p>
            <a:pPr>
              <a:spcAft>
                <a:spcPts val="800"/>
              </a:spcAft>
              <a:defRPr sz="1100">
                <a:solidFill>
                  <a:srgbClr val="262F37"/>
                </a:solidFill>
                <a:latin typeface="Aptos"/>
              </a:defRPr>
            </a:pPr>
            <a:r>
              <a:t>•  Reserve Bank of India — Payment Aggregator directions and authorisation list.</a:t>
            </a:r>
          </a:p>
          <a:p>
            <a:pPr>
              <a:spcAft>
                <a:spcPts val="800"/>
              </a:spcAft>
              <a:defRPr sz="1100">
                <a:solidFill>
                  <a:srgbClr val="262F37"/>
                </a:solidFill>
                <a:latin typeface="Aptos"/>
              </a:defRPr>
            </a:pPr>
            <a:r>
              <a:t>•  RBI / NPCI information on UPI and merchant payments.</a:t>
            </a:r>
          </a:p>
          <a:p>
            <a:pPr>
              <a:spcAft>
                <a:spcPts val="800"/>
              </a:spcAft>
              <a:defRPr sz="1100">
                <a:solidFill>
                  <a:srgbClr val="262F37"/>
                </a:solidFill>
                <a:latin typeface="Aptos"/>
              </a:defRPr>
            </a:pPr>
            <a:r>
              <a:t>•  PCI Security Standards Council — payment card security and tokenisation.</a:t>
            </a:r>
          </a:p>
          <a:p>
            <a:pPr>
              <a:spcAft>
                <a:spcPts val="800"/>
              </a:spcAft>
              <a:defRPr sz="1100">
                <a:solidFill>
                  <a:srgbClr val="262F37"/>
                </a:solidFill>
                <a:latin typeface="Aptos"/>
              </a:defRPr>
            </a:pPr>
            <a:r>
              <a:t>•  MeitY — Digital Personal Data Protection Act and current rules.</a:t>
            </a:r>
          </a:p>
          <a:p>
            <a:pPr>
              <a:spcAft>
                <a:spcPts val="800"/>
              </a:spcAft>
              <a:defRPr sz="1100">
                <a:solidFill>
                  <a:srgbClr val="262F37"/>
                </a:solidFill>
                <a:latin typeface="Aptos"/>
              </a:defRPr>
            </a:pPr>
            <a:r>
              <a:t>•  Written pricing, settlement and dispute terms from shortlisted providers.</a:t>
            </a:r>
          </a:p>
        </p:txBody>
      </p:sp>
      <p:sp>
        <p:nvSpPr>
          <p:cNvPr id="12" name="TextBox 11"/>
          <p:cNvSpPr txBox="1"/>
          <p:nvPr/>
        </p:nvSpPr>
        <p:spPr>
          <a:xfrm>
            <a:off x="822960" y="5623560"/>
            <a:ext cx="10424160" cy="411480"/>
          </a:xfrm>
          <a:prstGeom prst="rect">
            <a:avLst/>
          </a:prstGeom>
          <a:noFill/>
        </p:spPr>
        <p:txBody>
          <a:bodyPr wrap="square" lIns="45720" rIns="45720" anchor="t">
            <a:spAutoFit/>
          </a:bodyPr>
          <a:lstStyle/>
          <a:p>
            <a:pPr>
              <a:defRPr sz="1200" b="1">
                <a:solidFill>
                  <a:srgbClr val="676F74"/>
                </a:solidFill>
                <a:latin typeface="Aptos"/>
              </a:defRPr>
            </a:pPr>
            <a:r>
              <a:t>All fee rates and method shares in this deck are illustrative. Confirm current rules and provider terms before relying on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2844</Words>
  <Application>Microsoft Office PowerPoint</Application>
  <PresentationFormat>Widescreen</PresentationFormat>
  <Paragraphs>278</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Alok Shukla</dc:creator>
  <cp:keywords/>
  <dc:description>generated using python-pptx</dc:description>
  <cp:lastModifiedBy>Alok Shukla</cp:lastModifiedBy>
  <cp:revision>2</cp:revision>
  <dcterms:created xsi:type="dcterms:W3CDTF">2013-01-27T09:14:16Z</dcterms:created>
  <dcterms:modified xsi:type="dcterms:W3CDTF">2026-10-22T06:24:27Z</dcterms:modified>
  <cp:category/>
</cp:coreProperties>
</file>